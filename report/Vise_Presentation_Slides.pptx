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63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016">
          <p15:clr>
            <a:srgbClr val="000000"/>
          </p15:clr>
        </p15:guide>
        <p15:guide id="3" pos="3744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/VFSrjrujdcXr2DLjSKYkvxmP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ADC28-3F58-4271-98F8-52980C74E140}">
  <a:tblStyle styleId="{372ADC28-3F58-4271-98F8-52980C74E1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>
      <p:cViewPr varScale="1">
        <p:scale>
          <a:sx n="121" d="100"/>
          <a:sy n="121" d="100"/>
        </p:scale>
        <p:origin x="1976" y="168"/>
      </p:cViewPr>
      <p:guideLst>
        <p:guide orient="horz" pos="2160"/>
        <p:guide pos="2016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80a3221a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d680a3221a_4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d680a3221a_4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5d2d46d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d75d2d46d3_0_6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d75d2d46d3_0_6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75d2d46d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d75d2d46d3_0_3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75d2d46d3_0_3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04d4973f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e04d4973f5_0_3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e04d4973f5_0_3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04d4973f5_3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04d4973f5_3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e9666e3e4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e9666e3e4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04d4973f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04d4973f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04d4973f5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e04d4973f5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e04d4973f5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8" name="Google Shape;738;g3e04d4973f5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de9666e3e4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g3de9666e3e4_2_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de9666e3e4_2_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80a3221a_4_0"/>
          <p:cNvSpPr/>
          <p:nvPr/>
        </p:nvSpPr>
        <p:spPr>
          <a:xfrm>
            <a:off x="0" y="0"/>
            <a:ext cx="9144000" cy="66690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d680a3221a_4_0"/>
          <p:cNvSpPr/>
          <p:nvPr/>
        </p:nvSpPr>
        <p:spPr>
          <a:xfrm>
            <a:off x="502920" y="1461190"/>
            <a:ext cx="82296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VISE</a:t>
            </a:r>
            <a:endParaRPr sz="6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680a3221a_4_0"/>
          <p:cNvSpPr/>
          <p:nvPr/>
        </p:nvSpPr>
        <p:spPr>
          <a:xfrm>
            <a:off x="502920" y="2564495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2000"/>
              <a:buFont typeface="Calibri"/>
              <a:buNone/>
            </a:pPr>
            <a:r>
              <a:rPr lang="en-US" sz="25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Tax-Aware Portfolio </a:t>
            </a:r>
            <a:r>
              <a:rPr lang="en-US" sz="2500" b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Rebalancing</a:t>
            </a:r>
            <a:r>
              <a:rPr lang="en-US" sz="25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 sz="2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680a3221a_4_0"/>
          <p:cNvSpPr/>
          <p:nvPr/>
        </p:nvSpPr>
        <p:spPr>
          <a:xfrm>
            <a:off x="502920" y="3174109"/>
            <a:ext cx="731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F"/>
              </a:buClr>
              <a:buSzPts val="1100"/>
              <a:buFont typeface="Calibri"/>
              <a:buNone/>
            </a:pPr>
            <a:r>
              <a:rPr lang="en-US" sz="2000" i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Quantifying</a:t>
            </a:r>
            <a:r>
              <a:rPr lang="en-US" sz="2000" b="0" i="1" u="none" strike="noStrike" cap="none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 rebalancing strategy </a:t>
            </a:r>
            <a:r>
              <a:rPr lang="en-US" sz="2000" i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trade-offs</a:t>
            </a:r>
            <a:r>
              <a:rPr lang="en-US" sz="2000" b="0" i="1" u="none" strike="noStrike" cap="none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 for Vise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g3d680a3221a_4_0"/>
          <p:cNvCxnSpPr/>
          <p:nvPr/>
        </p:nvCxnSpPr>
        <p:spPr>
          <a:xfrm>
            <a:off x="502920" y="3758946"/>
            <a:ext cx="3200400" cy="0"/>
          </a:xfrm>
          <a:prstGeom prst="straightConnector1">
            <a:avLst/>
          </a:prstGeom>
          <a:noFill/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g3d680a3221a_4_0"/>
          <p:cNvSpPr/>
          <p:nvPr/>
        </p:nvSpPr>
        <p:spPr>
          <a:xfrm>
            <a:off x="502920" y="4482709"/>
            <a:ext cx="54864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F"/>
              </a:buClr>
              <a:buSzPts val="900"/>
              <a:buFont typeface="Calibri"/>
              <a:buNone/>
            </a:pPr>
            <a:r>
              <a:rPr lang="en-US" sz="1800" b="1" i="0" u="none" strike="noStrike" cap="none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UT Austin MSBA 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d680a3221a_4_0"/>
          <p:cNvSpPr/>
          <p:nvPr/>
        </p:nvSpPr>
        <p:spPr>
          <a:xfrm>
            <a:off x="502925" y="4645038"/>
            <a:ext cx="52767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F"/>
              </a:buClr>
              <a:buSzPts val="850"/>
              <a:buFont typeface="Calibri"/>
              <a:buNone/>
            </a:pPr>
            <a:r>
              <a:rPr lang="en-US" sz="1850" b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Bhagya Puppala · Jack Feen</a:t>
            </a:r>
            <a:r>
              <a:rPr lang="en-US" sz="1850" b="1" i="0" u="none" strike="noStrike" cap="none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lang="en-US" sz="1850" b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Joshua Ringler</a:t>
            </a:r>
            <a:endParaRPr sz="1850" b="1" i="0" u="none" strike="noStrike" cap="none">
              <a:solidFill>
                <a:srgbClr val="6B8F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F"/>
              </a:buClr>
              <a:buSzPts val="850"/>
              <a:buFont typeface="Calibri"/>
              <a:buNone/>
            </a:pPr>
            <a:r>
              <a:rPr lang="en-US" sz="1850" b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Nathan Arimilli</a:t>
            </a:r>
            <a:r>
              <a:rPr lang="en-US" sz="1850" b="1" i="0" u="none" strike="noStrike" cap="none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lang="en-US" sz="1850" b="1">
                <a:solidFill>
                  <a:srgbClr val="6B8FAF"/>
                </a:solidFill>
                <a:latin typeface="Calibri"/>
                <a:ea typeface="Calibri"/>
                <a:cs typeface="Calibri"/>
                <a:sym typeface="Calibri"/>
              </a:rPr>
              <a:t> Nisha Sapkota · Rio Yokoyama</a:t>
            </a:r>
            <a:endParaRPr sz="18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680a3221a_4_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d680a3221a_4_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650"/>
              <a:buFont typeface="Calibri"/>
              <a:buNone/>
            </a:pP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5d2d46d3_0_60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75d2d46d3_0_60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d75d2d46d3_0_60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 &amp; Key Terms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75d2d46d3_0_60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50"/>
              <a:buFont typeface="Calibri"/>
              <a:buNone/>
            </a:pPr>
            <a:r>
              <a:rPr lang="en-US" sz="1550" b="0" i="1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Who is Vise, and what do we need to know before we dive in?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75d2d46d3_0_60"/>
          <p:cNvSpPr/>
          <p:nvPr/>
        </p:nvSpPr>
        <p:spPr>
          <a:xfrm>
            <a:off x="182880" y="1182624"/>
            <a:ext cx="3474600" cy="524250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d75d2d46d3_0_60"/>
          <p:cNvSpPr/>
          <p:nvPr/>
        </p:nvSpPr>
        <p:spPr>
          <a:xfrm>
            <a:off x="182880" y="1182624"/>
            <a:ext cx="3474600" cy="672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d75d2d46d3_0_60"/>
          <p:cNvSpPr/>
          <p:nvPr/>
        </p:nvSpPr>
        <p:spPr>
          <a:xfrm>
            <a:off x="365760" y="1377696"/>
            <a:ext cx="32004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000"/>
              <a:buFont typeface="Calibri"/>
              <a:buNone/>
            </a:pPr>
            <a:r>
              <a:rPr lang="en-US" sz="1500" b="1" i="0" u="none" strike="noStrike" cap="none">
                <a:solidFill>
                  <a:srgbClr val="2563A8"/>
                </a:solidFill>
                <a:latin typeface="Calibri"/>
                <a:ea typeface="Calibri"/>
                <a:cs typeface="Calibri"/>
                <a:sym typeface="Calibri"/>
              </a:rPr>
              <a:t>ABOUT VISE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d75d2d46d3_0_60"/>
          <p:cNvCxnSpPr/>
          <p:nvPr/>
        </p:nvCxnSpPr>
        <p:spPr>
          <a:xfrm>
            <a:off x="320040" y="1792224"/>
            <a:ext cx="32004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g3d75d2d46d3_0_60"/>
          <p:cNvSpPr/>
          <p:nvPr/>
        </p:nvSpPr>
        <p:spPr>
          <a:xfrm>
            <a:off x="365760" y="1938528"/>
            <a:ext cx="32004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What they do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75d2d46d3_0_60"/>
          <p:cNvSpPr/>
          <p:nvPr/>
        </p:nvSpPr>
        <p:spPr>
          <a:xfrm>
            <a:off x="365760" y="2260953"/>
            <a:ext cx="3200400" cy="14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AI-powered platform that helps independent financial advisors build, manage, and explain personalized client portfolios</a:t>
            </a:r>
            <a:r>
              <a:rPr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automating the technical portfolio work so advisors can focus on client relationships.</a:t>
            </a:r>
            <a:endParaRPr sz="13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d75d2d46d3_0_60"/>
          <p:cNvSpPr/>
          <p:nvPr/>
        </p:nvSpPr>
        <p:spPr>
          <a:xfrm>
            <a:off x="365760" y="3925824"/>
            <a:ext cx="32004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Who they serve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75d2d46d3_0_60"/>
          <p:cNvSpPr/>
          <p:nvPr/>
        </p:nvSpPr>
        <p:spPr>
          <a:xfrm>
            <a:off x="365760" y="4248249"/>
            <a:ext cx="32004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Registered Investment Advisors (RIAs). Vise augments advisors, not replaces them.</a:t>
            </a:r>
            <a:endParaRPr sz="13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75d2d46d3_0_60"/>
          <p:cNvSpPr/>
          <p:nvPr/>
        </p:nvSpPr>
        <p:spPr>
          <a:xfrm>
            <a:off x="365760" y="5303520"/>
            <a:ext cx="32004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Core pillars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75d2d46d3_0_60"/>
          <p:cNvSpPr/>
          <p:nvPr/>
        </p:nvSpPr>
        <p:spPr>
          <a:xfrm>
            <a:off x="365760" y="5625945"/>
            <a:ext cx="32004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Build  ·  Manage  ·  Explain</a:t>
            </a:r>
            <a:endParaRPr sz="13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d75d2d46d3_0_60"/>
          <p:cNvSpPr/>
          <p:nvPr/>
        </p:nvSpPr>
        <p:spPr>
          <a:xfrm>
            <a:off x="3931920" y="1182624"/>
            <a:ext cx="5029200" cy="524250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d75d2d46d3_0_60"/>
          <p:cNvSpPr/>
          <p:nvPr/>
        </p:nvSpPr>
        <p:spPr>
          <a:xfrm>
            <a:off x="3931920" y="1182624"/>
            <a:ext cx="5029200" cy="67200"/>
          </a:xfrm>
          <a:prstGeom prst="rect">
            <a:avLst/>
          </a:prstGeom>
          <a:solidFill>
            <a:srgbClr val="1A7A4A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d75d2d46d3_0_60"/>
          <p:cNvSpPr/>
          <p:nvPr/>
        </p:nvSpPr>
        <p:spPr>
          <a:xfrm>
            <a:off x="4114800" y="1377696"/>
            <a:ext cx="4755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000"/>
              <a:buFont typeface="Calibri"/>
              <a:buNone/>
            </a:pPr>
            <a:r>
              <a:rPr lang="en-US" sz="1500" b="1" i="0" u="none" strike="noStrike" cap="non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KEY TERMS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g3d75d2d46d3_0_60"/>
          <p:cNvCxnSpPr/>
          <p:nvPr/>
        </p:nvCxnSpPr>
        <p:spPr>
          <a:xfrm>
            <a:off x="4069080" y="1792224"/>
            <a:ext cx="47550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g3d75d2d46d3_0_60"/>
          <p:cNvSpPr/>
          <p:nvPr/>
        </p:nvSpPr>
        <p:spPr>
          <a:xfrm>
            <a:off x="4114800" y="1938528"/>
            <a:ext cx="47550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750"/>
              <a:buFont typeface="Calibri"/>
              <a:buNone/>
            </a:pPr>
            <a:r>
              <a:rPr lang="en-US" sz="1500" b="1" i="0" u="none" strike="noStrike" cap="none">
                <a:solidFill>
                  <a:srgbClr val="2563A8"/>
                </a:solidFill>
                <a:latin typeface="Calibri"/>
                <a:ea typeface="Calibri"/>
                <a:cs typeface="Calibri"/>
                <a:sym typeface="Calibri"/>
              </a:rPr>
              <a:t>REBALANCING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75d2d46d3_0_60"/>
          <p:cNvSpPr/>
          <p:nvPr/>
        </p:nvSpPr>
        <p:spPr>
          <a:xfrm>
            <a:off x="4096512" y="2279904"/>
            <a:ext cx="1548300" cy="160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d75d2d46d3_0_60"/>
          <p:cNvSpPr/>
          <p:nvPr/>
        </p:nvSpPr>
        <p:spPr>
          <a:xfrm>
            <a:off x="4096512" y="2279904"/>
            <a:ext cx="1548300" cy="549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75d2d46d3_0_60"/>
          <p:cNvSpPr/>
          <p:nvPr/>
        </p:nvSpPr>
        <p:spPr>
          <a:xfrm>
            <a:off x="4187952" y="2401824"/>
            <a:ext cx="1420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50"/>
              <a:buFont typeface="Calibri"/>
              <a:buNone/>
            </a:pPr>
            <a:r>
              <a:rPr lang="en-US" sz="14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Rebalancing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75d2d46d3_0_60"/>
          <p:cNvSpPr/>
          <p:nvPr/>
        </p:nvSpPr>
        <p:spPr>
          <a:xfrm>
            <a:off x="4187952" y="2670048"/>
            <a:ext cx="14205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80"/>
              <a:buFont typeface="Calibri"/>
              <a:buNone/>
            </a:pP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Realigning a portfolio back to its target weights after market movements cause holdings to drift.</a:t>
            </a:r>
            <a:endParaRPr sz="108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75d2d46d3_0_60"/>
          <p:cNvSpPr/>
          <p:nvPr/>
        </p:nvSpPr>
        <p:spPr>
          <a:xfrm>
            <a:off x="5681472" y="2279904"/>
            <a:ext cx="1548300" cy="160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d75d2d46d3_0_60"/>
          <p:cNvSpPr/>
          <p:nvPr/>
        </p:nvSpPr>
        <p:spPr>
          <a:xfrm>
            <a:off x="5681472" y="2279904"/>
            <a:ext cx="1548300" cy="549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d75d2d46d3_0_60"/>
          <p:cNvSpPr/>
          <p:nvPr/>
        </p:nvSpPr>
        <p:spPr>
          <a:xfrm>
            <a:off x="5772912" y="2401824"/>
            <a:ext cx="1420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50"/>
              <a:buFont typeface="Calibri"/>
              <a:buNone/>
            </a:pPr>
            <a:r>
              <a:rPr lang="en-US" sz="14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Calendar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75d2d46d3_0_60"/>
          <p:cNvSpPr/>
          <p:nvPr/>
        </p:nvSpPr>
        <p:spPr>
          <a:xfrm>
            <a:off x="5772912" y="2670048"/>
            <a:ext cx="14205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80"/>
              <a:buFont typeface="Calibri"/>
              <a:buNone/>
            </a:pP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Rebalance on a fixed schedule </a:t>
            </a:r>
            <a:r>
              <a:rPr lang="en-US" sz="108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daily, monthly, quarterly</a:t>
            </a:r>
            <a:r>
              <a:rPr lang="en-US" sz="108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regardless of how much drift has occurred.</a:t>
            </a:r>
            <a:endParaRPr sz="108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75d2d46d3_0_60"/>
          <p:cNvSpPr/>
          <p:nvPr/>
        </p:nvSpPr>
        <p:spPr>
          <a:xfrm>
            <a:off x="7266432" y="2279904"/>
            <a:ext cx="1548300" cy="160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d75d2d46d3_0_60"/>
          <p:cNvSpPr/>
          <p:nvPr/>
        </p:nvSpPr>
        <p:spPr>
          <a:xfrm>
            <a:off x="7266432" y="2279904"/>
            <a:ext cx="1548300" cy="549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d75d2d46d3_0_60"/>
          <p:cNvSpPr/>
          <p:nvPr/>
        </p:nvSpPr>
        <p:spPr>
          <a:xfrm>
            <a:off x="7357872" y="2401824"/>
            <a:ext cx="1420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50"/>
              <a:buFont typeface="Calibri"/>
              <a:buNone/>
            </a:pPr>
            <a:r>
              <a:rPr lang="en-US" sz="14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d75d2d46d3_0_60"/>
          <p:cNvSpPr/>
          <p:nvPr/>
        </p:nvSpPr>
        <p:spPr>
          <a:xfrm>
            <a:off x="7357872" y="2670048"/>
            <a:ext cx="1420500" cy="11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80"/>
              <a:buFont typeface="Calibri"/>
              <a:buNone/>
            </a:pP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Rebalance only when holdings drift beyond a set tolerance. Time doesn't matter</a:t>
            </a:r>
            <a:r>
              <a:rPr lang="en-US" sz="108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drift does.</a:t>
            </a:r>
            <a:endParaRPr sz="108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g3d75d2d46d3_0_60"/>
          <p:cNvCxnSpPr/>
          <p:nvPr/>
        </p:nvCxnSpPr>
        <p:spPr>
          <a:xfrm>
            <a:off x="4069080" y="4157472"/>
            <a:ext cx="47550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g3d75d2d46d3_0_60"/>
          <p:cNvSpPr/>
          <p:nvPr/>
        </p:nvSpPr>
        <p:spPr>
          <a:xfrm>
            <a:off x="4114800" y="4279392"/>
            <a:ext cx="47550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750"/>
              <a:buFont typeface="Calibri"/>
              <a:buNone/>
            </a:pPr>
            <a:r>
              <a:rPr lang="en-US" sz="1500" b="1" i="0" u="none" strike="noStrike" cap="non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TAX STRATEGY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75d2d46d3_0_60"/>
          <p:cNvSpPr/>
          <p:nvPr/>
        </p:nvSpPr>
        <p:spPr>
          <a:xfrm>
            <a:off x="4096500" y="4620775"/>
            <a:ext cx="2322600" cy="164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d75d2d46d3_0_60"/>
          <p:cNvSpPr/>
          <p:nvPr/>
        </p:nvSpPr>
        <p:spPr>
          <a:xfrm>
            <a:off x="4096512" y="4620768"/>
            <a:ext cx="2322600" cy="54900"/>
          </a:xfrm>
          <a:prstGeom prst="rect">
            <a:avLst/>
          </a:prstGeom>
          <a:solidFill>
            <a:srgbClr val="1A7A4A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d75d2d46d3_0_60"/>
          <p:cNvSpPr/>
          <p:nvPr/>
        </p:nvSpPr>
        <p:spPr>
          <a:xfrm>
            <a:off x="4187952" y="4742688"/>
            <a:ext cx="2194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50"/>
              <a:buFont typeface="Calibri"/>
              <a:buNone/>
            </a:pPr>
            <a:r>
              <a:rPr lang="en-US" sz="14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Tax-Loss Harvesting (TLH)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75d2d46d3_0_60"/>
          <p:cNvSpPr/>
          <p:nvPr/>
        </p:nvSpPr>
        <p:spPr>
          <a:xfrm>
            <a:off x="4190369" y="5035325"/>
            <a:ext cx="21945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80"/>
              <a:buFont typeface="Calibri"/>
              <a:buNone/>
            </a:pP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a position drops in value, you sell it to lock in the loss as a tax deduction, then immediately buy a similar asset to stay invested. You reduce your tax bill without changing your market exposure.</a:t>
            </a:r>
            <a:endParaRPr sz="108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75d2d46d3_0_60"/>
          <p:cNvSpPr/>
          <p:nvPr/>
        </p:nvSpPr>
        <p:spPr>
          <a:xfrm>
            <a:off x="6455672" y="4620775"/>
            <a:ext cx="2322600" cy="164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d75d2d46d3_0_60"/>
          <p:cNvSpPr/>
          <p:nvPr/>
        </p:nvSpPr>
        <p:spPr>
          <a:xfrm>
            <a:off x="6455664" y="4620768"/>
            <a:ext cx="2322600" cy="54900"/>
          </a:xfrm>
          <a:prstGeom prst="rect">
            <a:avLst/>
          </a:prstGeom>
          <a:solidFill>
            <a:srgbClr val="1A7A4A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d75d2d46d3_0_60"/>
          <p:cNvSpPr/>
          <p:nvPr/>
        </p:nvSpPr>
        <p:spPr>
          <a:xfrm>
            <a:off x="6547104" y="4742688"/>
            <a:ext cx="2194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50"/>
              <a:buFont typeface="Calibri"/>
              <a:buNone/>
            </a:pPr>
            <a:r>
              <a:rPr lang="en-US" sz="1450" b="1" i="0" u="none" strike="noStrike" cap="non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Tax Alpha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75d2d46d3_0_60"/>
          <p:cNvSpPr/>
          <p:nvPr/>
        </p:nvSpPr>
        <p:spPr>
          <a:xfrm>
            <a:off x="6547104" y="4930964"/>
            <a:ext cx="21945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80"/>
              <a:buFont typeface="Calibri"/>
              <a:buNone/>
            </a:pPr>
            <a:r>
              <a:rPr lang="en-US" sz="108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net value-add of harvesting versus an identical no-TLH portfolio. It combines tax saved, the tracking of the replacement ETF you must hold, and trading cost, and in our results is usually dominated by tracking rather than tax.</a:t>
            </a:r>
            <a:endParaRPr sz="108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75d2d46d3_0_6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d75d2d46d3_0_6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650"/>
              <a:buFont typeface="Calibri"/>
              <a:buNone/>
            </a:pP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75d2d46d3_0_30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d75d2d46d3_0_30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75d2d46d3_0_30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Tax-Aware Portfolio Optimization Engine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75d2d46d3_0_30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50"/>
              <a:buFont typeface="Calibri"/>
              <a:buNone/>
            </a:pPr>
            <a:r>
              <a:rPr lang="en-US" sz="1550" b="0" i="1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Making rebalancing strategy </a:t>
            </a: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trade-offs</a:t>
            </a:r>
            <a:r>
              <a:rPr lang="en-US" sz="1550" b="0" i="1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 interpretable for Vise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75d2d46d3_0_30"/>
          <p:cNvSpPr/>
          <p:nvPr/>
        </p:nvSpPr>
        <p:spPr>
          <a:xfrm>
            <a:off x="182880" y="1245083"/>
            <a:ext cx="2798100" cy="524250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d75d2d46d3_0_30"/>
          <p:cNvSpPr/>
          <p:nvPr/>
        </p:nvSpPr>
        <p:spPr>
          <a:xfrm>
            <a:off x="182880" y="1245083"/>
            <a:ext cx="2798100" cy="672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g3d75d2d46d3_0_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472" y="145234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75d2d46d3_0_30"/>
          <p:cNvSpPr/>
          <p:nvPr/>
        </p:nvSpPr>
        <p:spPr>
          <a:xfrm>
            <a:off x="704088" y="1440155"/>
            <a:ext cx="220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d75d2d46d3_0_30"/>
          <p:cNvCxnSpPr/>
          <p:nvPr/>
        </p:nvCxnSpPr>
        <p:spPr>
          <a:xfrm>
            <a:off x="320040" y="1927835"/>
            <a:ext cx="25236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g3d75d2d46d3_0_30"/>
          <p:cNvSpPr/>
          <p:nvPr/>
        </p:nvSpPr>
        <p:spPr>
          <a:xfrm>
            <a:off x="330081" y="2074139"/>
            <a:ext cx="2541900" cy="4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Vise's model produces trading decisions without surfacing the strategy logic behind them.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810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Advisors can't see how rebalancing frequency or TLH choices affect outcomes.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810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interpretability means no client conversation.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75d2d46d3_0_30"/>
          <p:cNvSpPr/>
          <p:nvPr/>
        </p:nvSpPr>
        <p:spPr>
          <a:xfrm>
            <a:off x="3136392" y="1245083"/>
            <a:ext cx="2798100" cy="524250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d75d2d46d3_0_30"/>
          <p:cNvSpPr/>
          <p:nvPr/>
        </p:nvSpPr>
        <p:spPr>
          <a:xfrm>
            <a:off x="3136392" y="1245083"/>
            <a:ext cx="2798100" cy="672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g3d75d2d46d3_0_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0984" y="145234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d75d2d46d3_0_30"/>
          <p:cNvSpPr/>
          <p:nvPr/>
        </p:nvSpPr>
        <p:spPr>
          <a:xfrm>
            <a:off x="3657600" y="1440155"/>
            <a:ext cx="220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000"/>
              <a:buFont typeface="Calibri"/>
              <a:buNone/>
            </a:pPr>
            <a:r>
              <a:rPr lang="en-US" sz="1500" b="1" i="0" u="none" strike="noStrike" cap="none">
                <a:solidFill>
                  <a:srgbClr val="2563A8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d75d2d46d3_0_30"/>
          <p:cNvCxnSpPr/>
          <p:nvPr/>
        </p:nvCxnSpPr>
        <p:spPr>
          <a:xfrm>
            <a:off x="3273552" y="1927835"/>
            <a:ext cx="25236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g3d75d2d46d3_0_30"/>
          <p:cNvSpPr/>
          <p:nvPr/>
        </p:nvSpPr>
        <p:spPr>
          <a:xfrm>
            <a:off x="3283593" y="2074139"/>
            <a:ext cx="2541900" cy="4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Simulation engine covering calendar, threshold, and combined strategies, with and without TLH.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810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Historical backtesting quantifies tax savings, costs, return drag, and drift across every strategy.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810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Streamlit dashboard surfaces the comparison in a no-code, advisor-friendly interface.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75d2d46d3_0_30"/>
          <p:cNvSpPr/>
          <p:nvPr/>
        </p:nvSpPr>
        <p:spPr>
          <a:xfrm>
            <a:off x="6089904" y="1245083"/>
            <a:ext cx="2798100" cy="524250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d75d2d46d3_0_30"/>
          <p:cNvSpPr/>
          <p:nvPr/>
        </p:nvSpPr>
        <p:spPr>
          <a:xfrm>
            <a:off x="6089904" y="1245083"/>
            <a:ext cx="2798100" cy="67200"/>
          </a:xfrm>
          <a:prstGeom prst="rect">
            <a:avLst/>
          </a:prstGeom>
          <a:solidFill>
            <a:srgbClr val="1A7A4A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g3d75d2d46d3_0_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4496" y="145234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d75d2d46d3_0_30"/>
          <p:cNvSpPr/>
          <p:nvPr/>
        </p:nvSpPr>
        <p:spPr>
          <a:xfrm>
            <a:off x="6611112" y="1440155"/>
            <a:ext cx="220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000"/>
              <a:buFont typeface="Calibri"/>
              <a:buNone/>
            </a:pPr>
            <a:r>
              <a:rPr lang="en-US" sz="1500" b="1" i="0" u="none" strike="noStrike" cap="non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d75d2d46d3_0_30"/>
          <p:cNvCxnSpPr/>
          <p:nvPr/>
        </p:nvCxnSpPr>
        <p:spPr>
          <a:xfrm>
            <a:off x="6227064" y="1927835"/>
            <a:ext cx="25236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g3d75d2d46d3_0_30"/>
          <p:cNvSpPr/>
          <p:nvPr/>
        </p:nvSpPr>
        <p:spPr>
          <a:xfrm>
            <a:off x="6237105" y="2074139"/>
            <a:ext cx="2541900" cy="4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Advisors can explain tradeoffs clearly and recommend the right strategy per client.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810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Calibri"/>
              <a:buChar char="•"/>
            </a:pP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Clients see quantifiable proof</a:t>
            </a:r>
            <a:r>
              <a:rPr lang="en-US" sz="15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5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not a black box.</a:t>
            </a:r>
            <a:endParaRPr sz="15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75d2d46d3_0_3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d75d2d46d3_0_3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650"/>
              <a:buFont typeface="Calibri"/>
              <a:buNone/>
            </a:pP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g3e04d4973f5_0_30"/>
          <p:cNvGrpSpPr/>
          <p:nvPr/>
        </p:nvGrpSpPr>
        <p:grpSpPr>
          <a:xfrm>
            <a:off x="164592" y="1292777"/>
            <a:ext cx="2743200" cy="5181600"/>
            <a:chOff x="164592" y="1292777"/>
            <a:chExt cx="2743200" cy="5181600"/>
          </a:xfrm>
        </p:grpSpPr>
        <p:sp>
          <p:nvSpPr>
            <p:cNvPr id="182" name="Google Shape;182;g3e04d4973f5_0_30"/>
            <p:cNvSpPr/>
            <p:nvPr/>
          </p:nvSpPr>
          <p:spPr>
            <a:xfrm>
              <a:off x="164592" y="1292777"/>
              <a:ext cx="2743200" cy="518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g3e04d4973f5_0_30"/>
            <p:cNvSpPr/>
            <p:nvPr/>
          </p:nvSpPr>
          <p:spPr>
            <a:xfrm>
              <a:off x="164592" y="1292777"/>
              <a:ext cx="2743200" cy="85200"/>
            </a:xfrm>
            <a:prstGeom prst="rect">
              <a:avLst/>
            </a:prstGeom>
            <a:solidFill>
              <a:srgbClr val="2A6DD9"/>
            </a:solidFill>
            <a:ln w="12700" cap="flat" cmpd="sng">
              <a:solidFill>
                <a:srgbClr val="2A6D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g3e04d4973f5_0_30"/>
            <p:cNvSpPr/>
            <p:nvPr/>
          </p:nvSpPr>
          <p:spPr>
            <a:xfrm>
              <a:off x="329184" y="1475657"/>
              <a:ext cx="24141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A6DD9"/>
                </a:buClr>
                <a:buSzPts val="1400"/>
                <a:buFont typeface="Calibri"/>
                <a:buNone/>
              </a:pPr>
              <a:r>
                <a:rPr lang="en-US" sz="1500" b="1" i="0" u="none" strike="noStrike" cap="none">
                  <a:solidFill>
                    <a:srgbClr val="2A6DD9"/>
                  </a:solidFill>
                  <a:latin typeface="Calibri"/>
                  <a:ea typeface="Calibri"/>
                  <a:cs typeface="Calibri"/>
                  <a:sym typeface="Calibri"/>
                </a:rPr>
                <a:t>Price Dataset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g3e04d4973f5_0_30"/>
            <p:cNvSpPr/>
            <p:nvPr/>
          </p:nvSpPr>
          <p:spPr>
            <a:xfrm>
              <a:off x="329184" y="1877993"/>
              <a:ext cx="2414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000"/>
                <a:buFont typeface="Calibri"/>
                <a:buNone/>
              </a:pPr>
              <a:r>
                <a:rPr lang="en-US" sz="10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Historical data for full security universe</a:t>
              </a:r>
              <a:endParaRPr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g3e04d4973f5_0_30"/>
            <p:cNvCxnSpPr/>
            <p:nvPr/>
          </p:nvCxnSpPr>
          <p:spPr>
            <a:xfrm>
              <a:off x="329184" y="22315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7" name="Google Shape;187;g3e04d4973f5_0_30"/>
            <p:cNvSpPr/>
            <p:nvPr/>
          </p:nvSpPr>
          <p:spPr>
            <a:xfrm>
              <a:off x="329184" y="2292521"/>
              <a:ext cx="24141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Calibri"/>
                <a:buNone/>
              </a:pPr>
              <a:r>
                <a:rPr lang="en-US" sz="105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Historical price data at daily or tick frequency, one row per trading day.</a:t>
              </a:r>
              <a:endParaRPr sz="105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" name="Google Shape;188;g3e04d4973f5_0_30"/>
            <p:cNvCxnSpPr/>
            <p:nvPr/>
          </p:nvCxnSpPr>
          <p:spPr>
            <a:xfrm>
              <a:off x="329184" y="312157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9" name="Google Shape;189;g3e04d4973f5_0_30"/>
            <p:cNvSpPr/>
            <p:nvPr/>
          </p:nvSpPr>
          <p:spPr>
            <a:xfrm>
              <a:off x="329184" y="318253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COLUMNS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e04d4973f5_0_30"/>
            <p:cNvSpPr/>
            <p:nvPr/>
          </p:nvSpPr>
          <p:spPr>
            <a:xfrm>
              <a:off x="329184" y="346295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TRADINGITEMID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e04d4973f5_0_30"/>
            <p:cNvSpPr/>
            <p:nvPr/>
          </p:nvSpPr>
          <p:spPr>
            <a:xfrm>
              <a:off x="1371600" y="346295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Unique security 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2" name="Google Shape;192;g3e04d4973f5_0_30"/>
            <p:cNvCxnSpPr/>
            <p:nvPr/>
          </p:nvCxnSpPr>
          <p:spPr>
            <a:xfrm>
              <a:off x="329184" y="387748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3" name="Google Shape;193;g3e04d4973f5_0_30"/>
            <p:cNvSpPr/>
            <p:nvPr/>
          </p:nvSpPr>
          <p:spPr>
            <a:xfrm>
              <a:off x="329184" y="395063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PRICEDATE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e04d4973f5_0_30"/>
            <p:cNvSpPr/>
            <p:nvPr/>
          </p:nvSpPr>
          <p:spPr>
            <a:xfrm>
              <a:off x="1371600" y="395063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One row / trading day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g3e04d4973f5_0_30"/>
            <p:cNvCxnSpPr/>
            <p:nvPr/>
          </p:nvCxnSpPr>
          <p:spPr>
            <a:xfrm>
              <a:off x="329184" y="43651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6" name="Google Shape;196;g3e04d4973f5_0_30"/>
            <p:cNvSpPr/>
            <p:nvPr/>
          </p:nvSpPr>
          <p:spPr>
            <a:xfrm>
              <a:off x="329184" y="443831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PRICECLOSE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e04d4973f5_0_30"/>
            <p:cNvSpPr/>
            <p:nvPr/>
          </p:nvSpPr>
          <p:spPr>
            <a:xfrm>
              <a:off x="1371600" y="443831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Closing price record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" name="Google Shape;198;g3e04d4973f5_0_30"/>
            <p:cNvCxnSpPr/>
            <p:nvPr/>
          </p:nvCxnSpPr>
          <p:spPr>
            <a:xfrm>
              <a:off x="329184" y="485284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9" name="Google Shape;199;g3e04d4973f5_0_30"/>
            <p:cNvSpPr/>
            <p:nvPr/>
          </p:nvSpPr>
          <p:spPr>
            <a:xfrm>
              <a:off x="329184" y="492599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PRICEBID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e04d4973f5_0_30"/>
            <p:cNvSpPr/>
            <p:nvPr/>
          </p:nvSpPr>
          <p:spPr>
            <a:xfrm>
              <a:off x="1371600" y="492599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Used for sales execution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1" name="Google Shape;201;g3e04d4973f5_0_30"/>
            <p:cNvCxnSpPr/>
            <p:nvPr/>
          </p:nvCxnSpPr>
          <p:spPr>
            <a:xfrm>
              <a:off x="329184" y="549901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2" name="Google Shape;202;g3e04d4973f5_0_30"/>
            <p:cNvSpPr/>
            <p:nvPr/>
          </p:nvSpPr>
          <p:spPr>
            <a:xfrm>
              <a:off x="329184" y="555997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FOR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e04d4973f5_0_30"/>
            <p:cNvSpPr/>
            <p:nvPr/>
          </p:nvSpPr>
          <p:spPr>
            <a:xfrm>
              <a:off x="329184" y="5828201"/>
              <a:ext cx="2414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Calibri"/>
                <a:buNone/>
              </a:pPr>
              <a:r>
                <a:rPr lang="en-US" sz="10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Portfolio return calculations, back-testing, and strategy comparison.</a:t>
              </a:r>
              <a:endParaRPr sz="1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g3e04d4973f5_0_30"/>
          <p:cNvGrpSpPr/>
          <p:nvPr/>
        </p:nvGrpSpPr>
        <p:grpSpPr>
          <a:xfrm>
            <a:off x="3127248" y="1292777"/>
            <a:ext cx="2743200" cy="5181600"/>
            <a:chOff x="3127248" y="1292777"/>
            <a:chExt cx="2743200" cy="5181600"/>
          </a:xfrm>
        </p:grpSpPr>
        <p:sp>
          <p:nvSpPr>
            <p:cNvPr id="205" name="Google Shape;205;g3e04d4973f5_0_30"/>
            <p:cNvSpPr/>
            <p:nvPr/>
          </p:nvSpPr>
          <p:spPr>
            <a:xfrm>
              <a:off x="3127248" y="1292777"/>
              <a:ext cx="2743200" cy="518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g3e04d4973f5_0_30"/>
            <p:cNvSpPr/>
            <p:nvPr/>
          </p:nvSpPr>
          <p:spPr>
            <a:xfrm>
              <a:off x="3127248" y="1292777"/>
              <a:ext cx="2743200" cy="85200"/>
            </a:xfrm>
            <a:prstGeom prst="rect">
              <a:avLst/>
            </a:prstGeom>
            <a:solidFill>
              <a:srgbClr val="1B9FCC"/>
            </a:solidFill>
            <a:ln w="12700" cap="flat" cmpd="sng">
              <a:solidFill>
                <a:srgbClr val="1B9F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g3e04d4973f5_0_30"/>
            <p:cNvSpPr/>
            <p:nvPr/>
          </p:nvSpPr>
          <p:spPr>
            <a:xfrm>
              <a:off x="3291840" y="1475657"/>
              <a:ext cx="24141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9FCC"/>
                </a:buClr>
                <a:buSzPts val="1400"/>
                <a:buFont typeface="Calibri"/>
                <a:buNone/>
              </a:pPr>
              <a:r>
                <a:rPr lang="en-US" sz="1500" b="1" i="0" u="none" strike="noStrike" cap="none">
                  <a:solidFill>
                    <a:srgbClr val="1B9FCC"/>
                  </a:solidFill>
                  <a:latin typeface="Calibri"/>
                  <a:ea typeface="Calibri"/>
                  <a:cs typeface="Calibri"/>
                  <a:sym typeface="Calibri"/>
                </a:rPr>
                <a:t>Proxy Lookup Dataset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e04d4973f5_0_30"/>
            <p:cNvSpPr/>
            <p:nvPr/>
          </p:nvSpPr>
          <p:spPr>
            <a:xfrm>
              <a:off x="3291840" y="1877993"/>
              <a:ext cx="2414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000"/>
                <a:buFont typeface="Calibri"/>
                <a:buNone/>
              </a:pPr>
              <a:r>
                <a:rPr lang="en-US" sz="10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Ticker → proxy ticker mappings for TLH</a:t>
              </a:r>
              <a:endParaRPr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" name="Google Shape;209;g3e04d4973f5_0_30"/>
            <p:cNvCxnSpPr/>
            <p:nvPr/>
          </p:nvCxnSpPr>
          <p:spPr>
            <a:xfrm>
              <a:off x="3291840" y="22315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0" name="Google Shape;210;g3e04d4973f5_0_30"/>
            <p:cNvSpPr/>
            <p:nvPr/>
          </p:nvSpPr>
          <p:spPr>
            <a:xfrm>
              <a:off x="3291840" y="2292521"/>
              <a:ext cx="24141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Calibri"/>
                <a:buNone/>
              </a:pPr>
              <a:r>
                <a:rPr lang="en-US" sz="105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Maps securities to substitute tickers for tax-loss harvesting while maintaining similar market exposure.</a:t>
              </a:r>
              <a:endParaRPr sz="105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g3e04d4973f5_0_30"/>
            <p:cNvCxnSpPr/>
            <p:nvPr/>
          </p:nvCxnSpPr>
          <p:spPr>
            <a:xfrm>
              <a:off x="3291840" y="312157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2" name="Google Shape;212;g3e04d4973f5_0_30"/>
            <p:cNvSpPr/>
            <p:nvPr/>
          </p:nvSpPr>
          <p:spPr>
            <a:xfrm>
              <a:off x="3291840" y="318253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COLUMNS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e04d4973f5_0_30"/>
            <p:cNvSpPr/>
            <p:nvPr/>
          </p:nvSpPr>
          <p:spPr>
            <a:xfrm>
              <a:off x="3291840" y="346295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TRADINGITEMID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e04d4973f5_0_30"/>
            <p:cNvSpPr/>
            <p:nvPr/>
          </p:nvSpPr>
          <p:spPr>
            <a:xfrm>
              <a:off x="4334256" y="346295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Unique security 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5" name="Google Shape;215;g3e04d4973f5_0_30"/>
            <p:cNvCxnSpPr/>
            <p:nvPr/>
          </p:nvCxnSpPr>
          <p:spPr>
            <a:xfrm>
              <a:off x="3291840" y="387748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6" name="Google Shape;216;g3e04d4973f5_0_30"/>
            <p:cNvSpPr/>
            <p:nvPr/>
          </p:nvSpPr>
          <p:spPr>
            <a:xfrm>
              <a:off x="3291840" y="395063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TICKER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e04d4973f5_0_30"/>
            <p:cNvSpPr/>
            <p:nvPr/>
          </p:nvSpPr>
          <p:spPr>
            <a:xfrm>
              <a:off x="4334256" y="395063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Original ETF harvested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8" name="Google Shape;218;g3e04d4973f5_0_30"/>
            <p:cNvCxnSpPr/>
            <p:nvPr/>
          </p:nvCxnSpPr>
          <p:spPr>
            <a:xfrm>
              <a:off x="3291840" y="43651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9" name="Google Shape;219;g3e04d4973f5_0_30"/>
            <p:cNvSpPr/>
            <p:nvPr/>
          </p:nvSpPr>
          <p:spPr>
            <a:xfrm>
              <a:off x="3291840" y="443831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PROXY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g3e04d4973f5_0_30"/>
            <p:cNvSpPr/>
            <p:nvPr/>
          </p:nvSpPr>
          <p:spPr>
            <a:xfrm>
              <a:off x="4334256" y="443831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Substitute ETF — no wash sales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g3e04d4973f5_0_30"/>
            <p:cNvCxnSpPr/>
            <p:nvPr/>
          </p:nvCxnSpPr>
          <p:spPr>
            <a:xfrm>
              <a:off x="3291840" y="549901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g3e04d4973f5_0_30"/>
            <p:cNvSpPr/>
            <p:nvPr/>
          </p:nvSpPr>
          <p:spPr>
            <a:xfrm>
              <a:off x="3291840" y="555997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FOR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e04d4973f5_0_30"/>
            <p:cNvSpPr/>
            <p:nvPr/>
          </p:nvSpPr>
          <p:spPr>
            <a:xfrm>
              <a:off x="3291840" y="5828201"/>
              <a:ext cx="2414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Calibri"/>
                <a:buNone/>
              </a:pPr>
              <a:r>
                <a:rPr lang="en-US" sz="10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Automatically pairing each position with a swap security when harvesting losses.</a:t>
              </a:r>
              <a:endParaRPr sz="1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g3e04d4973f5_0_30"/>
          <p:cNvGrpSpPr/>
          <p:nvPr/>
        </p:nvGrpSpPr>
        <p:grpSpPr>
          <a:xfrm>
            <a:off x="6080760" y="1292777"/>
            <a:ext cx="2743200" cy="5181600"/>
            <a:chOff x="6080760" y="1292777"/>
            <a:chExt cx="2743200" cy="5181600"/>
          </a:xfrm>
        </p:grpSpPr>
        <p:sp>
          <p:nvSpPr>
            <p:cNvPr id="225" name="Google Shape;225;g3e04d4973f5_0_30"/>
            <p:cNvSpPr/>
            <p:nvPr/>
          </p:nvSpPr>
          <p:spPr>
            <a:xfrm>
              <a:off x="6080760" y="1292777"/>
              <a:ext cx="2743200" cy="518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g3e04d4973f5_0_30"/>
            <p:cNvSpPr/>
            <p:nvPr/>
          </p:nvSpPr>
          <p:spPr>
            <a:xfrm>
              <a:off x="6080760" y="1292777"/>
              <a:ext cx="2743200" cy="85200"/>
            </a:xfrm>
            <a:prstGeom prst="rect">
              <a:avLst/>
            </a:prstGeom>
            <a:solidFill>
              <a:srgbClr val="12B58A"/>
            </a:solidFill>
            <a:ln w="12700" cap="flat" cmpd="sng">
              <a:solidFill>
                <a:srgbClr val="12B5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g3e04d4973f5_0_30"/>
            <p:cNvSpPr/>
            <p:nvPr/>
          </p:nvSpPr>
          <p:spPr>
            <a:xfrm>
              <a:off x="6245352" y="1475657"/>
              <a:ext cx="24141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2B58A"/>
                </a:buClr>
                <a:buSzPts val="1400"/>
                <a:buFont typeface="Calibri"/>
                <a:buNone/>
              </a:pPr>
              <a:r>
                <a:rPr lang="en-US" sz="1500" b="1" i="0" u="none" strike="noStrike" cap="none">
                  <a:solidFill>
                    <a:srgbClr val="12B58A"/>
                  </a:solidFill>
                  <a:latin typeface="Calibri"/>
                  <a:ea typeface="Calibri"/>
                  <a:cs typeface="Calibri"/>
                  <a:sym typeface="Calibri"/>
                </a:rPr>
                <a:t>Dividend Dataset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e04d4973f5_0_30"/>
            <p:cNvSpPr/>
            <p:nvPr/>
          </p:nvSpPr>
          <p:spPr>
            <a:xfrm>
              <a:off x="6182077" y="1865818"/>
              <a:ext cx="2414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000"/>
                <a:buFont typeface="Calibri"/>
                <a:buNone/>
              </a:pPr>
              <a:r>
                <a:rPr lang="en-US" sz="10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Distribution &amp; yield history</a:t>
              </a:r>
              <a:endParaRPr sz="1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" name="Google Shape;229;g3e04d4973f5_0_30"/>
            <p:cNvCxnSpPr/>
            <p:nvPr/>
          </p:nvCxnSpPr>
          <p:spPr>
            <a:xfrm>
              <a:off x="6245352" y="22315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0" name="Google Shape;230;g3e04d4973f5_0_30"/>
            <p:cNvSpPr/>
            <p:nvPr/>
          </p:nvSpPr>
          <p:spPr>
            <a:xfrm>
              <a:off x="6245352" y="2292521"/>
              <a:ext cx="24141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Calibri"/>
                <a:buNone/>
              </a:pPr>
              <a:r>
                <a:rPr lang="en-US" sz="105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Captures historical dividend distributions and operates at a quarterly frequency.</a:t>
              </a:r>
              <a:endParaRPr sz="105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g3e04d4973f5_0_30"/>
            <p:cNvCxnSpPr/>
            <p:nvPr/>
          </p:nvCxnSpPr>
          <p:spPr>
            <a:xfrm>
              <a:off x="6245352" y="312157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2" name="Google Shape;232;g3e04d4973f5_0_30"/>
            <p:cNvSpPr/>
            <p:nvPr/>
          </p:nvSpPr>
          <p:spPr>
            <a:xfrm>
              <a:off x="6245352" y="318253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COLUMNS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e04d4973f5_0_30"/>
            <p:cNvSpPr/>
            <p:nvPr/>
          </p:nvSpPr>
          <p:spPr>
            <a:xfrm>
              <a:off x="6245352" y="346295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TRADINGITEMID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e04d4973f5_0_30"/>
            <p:cNvSpPr/>
            <p:nvPr/>
          </p:nvSpPr>
          <p:spPr>
            <a:xfrm>
              <a:off x="7287768" y="346295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Unique security 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5" name="Google Shape;235;g3e04d4973f5_0_30"/>
            <p:cNvCxnSpPr/>
            <p:nvPr/>
          </p:nvCxnSpPr>
          <p:spPr>
            <a:xfrm>
              <a:off x="6245352" y="387748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6" name="Google Shape;236;g3e04d4973f5_0_30"/>
            <p:cNvSpPr/>
            <p:nvPr/>
          </p:nvSpPr>
          <p:spPr>
            <a:xfrm>
              <a:off x="6245352" y="395063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DIVIDENDID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e04d4973f5_0_30"/>
            <p:cNvSpPr/>
            <p:nvPr/>
          </p:nvSpPr>
          <p:spPr>
            <a:xfrm>
              <a:off x="7287768" y="395063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Unique dividend event ID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8" name="Google Shape;238;g3e04d4973f5_0_30"/>
            <p:cNvCxnSpPr/>
            <p:nvPr/>
          </p:nvCxnSpPr>
          <p:spPr>
            <a:xfrm>
              <a:off x="6245352" y="436516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9" name="Google Shape;239;g3e04d4973f5_0_30"/>
            <p:cNvSpPr/>
            <p:nvPr/>
          </p:nvSpPr>
          <p:spPr>
            <a:xfrm>
              <a:off x="6245352" y="443831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EXDATE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e04d4973f5_0_30"/>
            <p:cNvSpPr/>
            <p:nvPr/>
          </p:nvSpPr>
          <p:spPr>
            <a:xfrm>
              <a:off x="7287768" y="443831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Ex-dividend cutoff date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1" name="Google Shape;241;g3e04d4973f5_0_30"/>
            <p:cNvCxnSpPr/>
            <p:nvPr/>
          </p:nvCxnSpPr>
          <p:spPr>
            <a:xfrm>
              <a:off x="6245352" y="4852841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2" name="Google Shape;242;g3e04d4973f5_0_30"/>
            <p:cNvSpPr/>
            <p:nvPr/>
          </p:nvSpPr>
          <p:spPr>
            <a:xfrm>
              <a:off x="6245352" y="4925993"/>
              <a:ext cx="10059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onsolas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PAYDATE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3e04d4973f5_0_30"/>
            <p:cNvSpPr/>
            <p:nvPr/>
          </p:nvSpPr>
          <p:spPr>
            <a:xfrm>
              <a:off x="7287768" y="4925993"/>
              <a:ext cx="13716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Calibri"/>
                <a:buNone/>
              </a:pPr>
              <a:r>
                <a:rPr lang="en-US" sz="900" b="1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Dividend settlement date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" name="Google Shape;244;g3e04d4973f5_0_30"/>
            <p:cNvCxnSpPr/>
            <p:nvPr/>
          </p:nvCxnSpPr>
          <p:spPr>
            <a:xfrm>
              <a:off x="6245352" y="5499017"/>
              <a:ext cx="2414100" cy="0"/>
            </a:xfrm>
            <a:prstGeom prst="straightConnector1">
              <a:avLst/>
            </a:prstGeom>
            <a:noFill/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5" name="Google Shape;245;g3e04d4973f5_0_30"/>
            <p:cNvSpPr/>
            <p:nvPr/>
          </p:nvSpPr>
          <p:spPr>
            <a:xfrm>
              <a:off x="6245352" y="5559977"/>
              <a:ext cx="24141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800"/>
                <a:buFont typeface="Calibri"/>
                <a:buNone/>
              </a:pPr>
              <a:r>
                <a:rPr lang="en-US" sz="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FOR</a:t>
              </a:r>
              <a:endPara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e04d4973f5_0_30"/>
            <p:cNvSpPr/>
            <p:nvPr/>
          </p:nvSpPr>
          <p:spPr>
            <a:xfrm>
              <a:off x="6245352" y="5828201"/>
              <a:ext cx="2414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Calibri"/>
                <a:buNone/>
              </a:pPr>
              <a:r>
                <a:rPr lang="en-US" sz="10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Dividend record coverage, reinvestment treatment, and data completeness.</a:t>
              </a:r>
              <a:endParaRPr sz="1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e04d4973f5_0_30"/>
          <p:cNvSpPr/>
          <p:nvPr/>
        </p:nvSpPr>
        <p:spPr>
          <a:xfrm>
            <a:off x="3149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e04d4973f5_0_30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e04d4973f5_0_30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04d4973f5_0_30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4d4973f5_0_30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Daily price records powering all return calculations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04d4973f5_3_217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e04d4973f5_3_217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e04d4973f5_3_217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Rebalance Procedures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04d4973f5_3_217"/>
          <p:cNvSpPr/>
          <p:nvPr/>
        </p:nvSpPr>
        <p:spPr>
          <a:xfrm>
            <a:off x="396445" y="1254180"/>
            <a:ext cx="4000500" cy="256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12700" dir="54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04d4973f5_3_217"/>
          <p:cNvSpPr/>
          <p:nvPr/>
        </p:nvSpPr>
        <p:spPr>
          <a:xfrm>
            <a:off x="396443" y="1254175"/>
            <a:ext cx="56700" cy="2560200"/>
          </a:xfrm>
          <a:prstGeom prst="rect">
            <a:avLst/>
          </a:prstGeom>
          <a:solidFill>
            <a:srgbClr val="D94F4F"/>
          </a:solidFill>
          <a:ln w="12700" cap="flat" cmpd="sng">
            <a:solidFill>
              <a:srgbClr val="D9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e04d4973f5_3_217"/>
          <p:cNvSpPr/>
          <p:nvPr/>
        </p:nvSpPr>
        <p:spPr>
          <a:xfrm>
            <a:off x="573452" y="1363903"/>
            <a:ext cx="400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Tax-Loss Harvest</a:t>
            </a:r>
            <a:endParaRPr sz="1500" b="0" i="0" u="none" strike="noStrike" cap="non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04d4973f5_3_217"/>
          <p:cNvSpPr/>
          <p:nvPr/>
        </p:nvSpPr>
        <p:spPr>
          <a:xfrm>
            <a:off x="615400" y="1665669"/>
            <a:ext cx="20415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Triggers at loss &gt; 10%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g3e04d4973f5_3_217"/>
          <p:cNvCxnSpPr/>
          <p:nvPr/>
        </p:nvCxnSpPr>
        <p:spPr>
          <a:xfrm>
            <a:off x="615394" y="2305750"/>
            <a:ext cx="3646500" cy="0"/>
          </a:xfrm>
          <a:prstGeom prst="straightConnector1">
            <a:avLst/>
          </a:prstGeom>
          <a:noFill/>
          <a:ln w="12700" cap="flat" cmpd="sng">
            <a:solidFill>
              <a:srgbClr val="5A6B7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64" name="Google Shape;264;g3e04d4973f5_3_217"/>
          <p:cNvSpPr/>
          <p:nvPr/>
        </p:nvSpPr>
        <p:spPr>
          <a:xfrm>
            <a:off x="593391" y="2080510"/>
            <a:ext cx="1416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Cost basis  $100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g3e04d4973f5_3_217"/>
          <p:cNvCxnSpPr/>
          <p:nvPr/>
        </p:nvCxnSpPr>
        <p:spPr>
          <a:xfrm>
            <a:off x="713681" y="2391570"/>
            <a:ext cx="2007000" cy="691200"/>
          </a:xfrm>
          <a:prstGeom prst="straightConnector1">
            <a:avLst/>
          </a:prstGeom>
          <a:noFill/>
          <a:ln w="31750" cap="flat" cmpd="sng">
            <a:solidFill>
              <a:srgbClr val="D94F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g3e04d4973f5_3_217"/>
          <p:cNvCxnSpPr/>
          <p:nvPr/>
        </p:nvCxnSpPr>
        <p:spPr>
          <a:xfrm rot="10800000" flipH="1">
            <a:off x="2720574" y="2945891"/>
            <a:ext cx="1534800" cy="137100"/>
          </a:xfrm>
          <a:prstGeom prst="straightConnector1">
            <a:avLst/>
          </a:prstGeom>
          <a:noFill/>
          <a:ln w="317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g3e04d4973f5_3_217"/>
          <p:cNvSpPr/>
          <p:nvPr/>
        </p:nvSpPr>
        <p:spPr>
          <a:xfrm>
            <a:off x="2656851" y="3000695"/>
            <a:ext cx="1275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e04d4973f5_3_217"/>
          <p:cNvSpPr/>
          <p:nvPr/>
        </p:nvSpPr>
        <p:spPr>
          <a:xfrm>
            <a:off x="918581" y="3245594"/>
            <a:ext cx="12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SELL ETF A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04d4973f5_3_217"/>
          <p:cNvSpPr/>
          <p:nvPr/>
        </p:nvSpPr>
        <p:spPr>
          <a:xfrm>
            <a:off x="2786913" y="3000695"/>
            <a:ext cx="127500" cy="164700"/>
          </a:xfrm>
          <a:prstGeom prst="ellipse">
            <a:avLst/>
          </a:prstGeom>
          <a:solidFill>
            <a:srgbClr val="0D9488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e04d4973f5_3_217"/>
          <p:cNvSpPr/>
          <p:nvPr/>
        </p:nvSpPr>
        <p:spPr>
          <a:xfrm>
            <a:off x="2763283" y="3245594"/>
            <a:ext cx="12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BUY ETF B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(similar, not identical)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04d4973f5_3_217"/>
          <p:cNvSpPr/>
          <p:nvPr/>
        </p:nvSpPr>
        <p:spPr>
          <a:xfrm>
            <a:off x="409329" y="4001238"/>
            <a:ext cx="4000500" cy="256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12700" dir="54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e04d4973f5_3_217"/>
          <p:cNvSpPr/>
          <p:nvPr/>
        </p:nvSpPr>
        <p:spPr>
          <a:xfrm>
            <a:off x="412657" y="4001250"/>
            <a:ext cx="53100" cy="2560200"/>
          </a:xfrm>
          <a:prstGeom prst="rect">
            <a:avLst/>
          </a:prstGeom>
          <a:solidFill>
            <a:srgbClr val="E0A82E"/>
          </a:solidFill>
          <a:ln w="12700" cap="flat" cmpd="sng">
            <a:solidFill>
              <a:srgbClr val="E0A8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e04d4973f5_3_217"/>
          <p:cNvSpPr/>
          <p:nvPr/>
        </p:nvSpPr>
        <p:spPr>
          <a:xfrm>
            <a:off x="577964" y="4110978"/>
            <a:ext cx="3735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Absolute Threshold Rebalance</a:t>
            </a:r>
            <a:endParaRPr sz="1500" b="0" i="0" u="none" strike="noStrike" cap="non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04d4973f5_3_217"/>
          <p:cNvSpPr/>
          <p:nvPr/>
        </p:nvSpPr>
        <p:spPr>
          <a:xfrm>
            <a:off x="577964" y="4412730"/>
            <a:ext cx="373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Trade when weight drifts past a fixed ±band around its target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04d4973f5_3_217"/>
          <p:cNvSpPr/>
          <p:nvPr/>
        </p:nvSpPr>
        <p:spPr>
          <a:xfrm>
            <a:off x="710210" y="5274879"/>
            <a:ext cx="3405300" cy="405000"/>
          </a:xfrm>
          <a:prstGeom prst="rect">
            <a:avLst/>
          </a:prstGeom>
          <a:solidFill>
            <a:srgbClr val="E0A82E">
              <a:alpha val="149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6" name="Google Shape;276;g3e04d4973f5_3_217"/>
          <p:cNvCxnSpPr/>
          <p:nvPr/>
        </p:nvCxnSpPr>
        <p:spPr>
          <a:xfrm>
            <a:off x="710210" y="5477353"/>
            <a:ext cx="3405300" cy="0"/>
          </a:xfrm>
          <a:prstGeom prst="straightConnector1">
            <a:avLst/>
          </a:prstGeom>
          <a:noFill/>
          <a:ln w="12700" cap="flat" cmpd="sng">
            <a:solidFill>
              <a:srgbClr val="5A6B7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7" name="Google Shape;277;g3e04d4973f5_3_217"/>
          <p:cNvSpPr/>
          <p:nvPr/>
        </p:nvSpPr>
        <p:spPr>
          <a:xfrm>
            <a:off x="803413" y="5495641"/>
            <a:ext cx="72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Target 60%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04d4973f5_3_217"/>
          <p:cNvSpPr/>
          <p:nvPr/>
        </p:nvSpPr>
        <p:spPr>
          <a:xfrm>
            <a:off x="3057539" y="5073711"/>
            <a:ext cx="1058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12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+5</a:t>
            </a:r>
            <a:r>
              <a:rPr lang="en-US" sz="850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850" b="0" i="0" u="none" strike="noStrike" cap="none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 band (65%)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e04d4973f5_3_217"/>
          <p:cNvSpPr/>
          <p:nvPr/>
        </p:nvSpPr>
        <p:spPr>
          <a:xfrm>
            <a:off x="3057539" y="5698115"/>
            <a:ext cx="1058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12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−5</a:t>
            </a:r>
            <a:r>
              <a:rPr lang="en-US" sz="850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lang="en-US" sz="850" b="0" i="0" u="none" strike="noStrike" cap="none">
                <a:solidFill>
                  <a:srgbClr val="8A6A12"/>
                </a:solidFill>
                <a:latin typeface="Calibri"/>
                <a:ea typeface="Calibri"/>
                <a:cs typeface="Calibri"/>
                <a:sym typeface="Calibri"/>
              </a:rPr>
              <a:t>band (55%)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g3e04d4973f5_3_217"/>
          <p:cNvCxnSpPr/>
          <p:nvPr/>
        </p:nvCxnSpPr>
        <p:spPr>
          <a:xfrm rot="10800000" flipH="1">
            <a:off x="893844" y="5396353"/>
            <a:ext cx="579000" cy="810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g3e04d4973f5_3_217"/>
          <p:cNvCxnSpPr/>
          <p:nvPr/>
        </p:nvCxnSpPr>
        <p:spPr>
          <a:xfrm rot="10800000" flipH="1">
            <a:off x="1459381" y="5295263"/>
            <a:ext cx="681000" cy="1011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2" name="Google Shape;282;g3e04d4973f5_3_217"/>
          <p:cNvCxnSpPr/>
          <p:nvPr/>
        </p:nvCxnSpPr>
        <p:spPr>
          <a:xfrm rot="10800000" flipH="1">
            <a:off x="2140446" y="5214126"/>
            <a:ext cx="681000" cy="810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3" name="Google Shape;283;g3e04d4973f5_3_217"/>
          <p:cNvCxnSpPr/>
          <p:nvPr/>
        </p:nvCxnSpPr>
        <p:spPr>
          <a:xfrm>
            <a:off x="2821512" y="5214136"/>
            <a:ext cx="136200" cy="263100"/>
          </a:xfrm>
          <a:prstGeom prst="straightConnector1">
            <a:avLst/>
          </a:prstGeom>
          <a:noFill/>
          <a:ln w="317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4" name="Google Shape;284;g3e04d4973f5_3_217"/>
          <p:cNvCxnSpPr/>
          <p:nvPr/>
        </p:nvCxnSpPr>
        <p:spPr>
          <a:xfrm rot="10800000" flipH="1">
            <a:off x="2957725" y="5457253"/>
            <a:ext cx="817200" cy="201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g3e04d4973f5_3_217"/>
          <p:cNvSpPr/>
          <p:nvPr/>
        </p:nvSpPr>
        <p:spPr>
          <a:xfrm>
            <a:off x="2762001" y="5131840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e04d4973f5_3_217"/>
          <p:cNvSpPr/>
          <p:nvPr/>
        </p:nvSpPr>
        <p:spPr>
          <a:xfrm>
            <a:off x="1546584" y="4949203"/>
            <a:ext cx="125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Breach → SELL 6.5%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04d4973f5_3_217"/>
          <p:cNvSpPr/>
          <p:nvPr/>
        </p:nvSpPr>
        <p:spPr>
          <a:xfrm>
            <a:off x="4782053" y="3974524"/>
            <a:ext cx="4000500" cy="256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12700" dir="54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e04d4973f5_3_217"/>
          <p:cNvSpPr/>
          <p:nvPr/>
        </p:nvSpPr>
        <p:spPr>
          <a:xfrm>
            <a:off x="4782053" y="3974524"/>
            <a:ext cx="52800" cy="2560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e04d4973f5_3_217"/>
          <p:cNvSpPr/>
          <p:nvPr/>
        </p:nvSpPr>
        <p:spPr>
          <a:xfrm>
            <a:off x="4947366" y="4084252"/>
            <a:ext cx="3735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Relative Threshold Rebalance</a:t>
            </a:r>
            <a:endParaRPr sz="1500" b="1" i="0" u="none" strike="noStrike" cap="non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04d4973f5_3_217"/>
          <p:cNvSpPr/>
          <p:nvPr/>
        </p:nvSpPr>
        <p:spPr>
          <a:xfrm>
            <a:off x="4947366" y="4386004"/>
            <a:ext cx="373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Trade when </a:t>
            </a:r>
            <a:r>
              <a:rPr lang="en-US" sz="1050" i="1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weight </a:t>
            </a:r>
            <a:r>
              <a:rPr lang="en-US" sz="1050" b="0" i="1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drifts past a % of its own target weight (e.g., ±25% of target).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04d4973f5_3_217"/>
          <p:cNvSpPr/>
          <p:nvPr/>
        </p:nvSpPr>
        <p:spPr>
          <a:xfrm>
            <a:off x="4784350" y="1267775"/>
            <a:ext cx="4000500" cy="256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12700" dir="54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e04d4973f5_3_217"/>
          <p:cNvSpPr/>
          <p:nvPr/>
        </p:nvSpPr>
        <p:spPr>
          <a:xfrm>
            <a:off x="4784350" y="1267775"/>
            <a:ext cx="52800" cy="2560200"/>
          </a:xfrm>
          <a:prstGeom prst="rect">
            <a:avLst/>
          </a:prstGeom>
          <a:solidFill>
            <a:srgbClr val="3C6E91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e04d4973f5_3_217"/>
          <p:cNvSpPr/>
          <p:nvPr/>
        </p:nvSpPr>
        <p:spPr>
          <a:xfrm>
            <a:off x="4949662" y="1377503"/>
            <a:ext cx="3735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Calendar Rebalance</a:t>
            </a:r>
            <a:endParaRPr sz="1500" b="0" i="0" u="none" strike="noStrike" cap="non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04d4973f5_3_217"/>
          <p:cNvSpPr/>
          <p:nvPr/>
        </p:nvSpPr>
        <p:spPr>
          <a:xfrm>
            <a:off x="4949662" y="1679255"/>
            <a:ext cx="3735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Trade on a fixed schedule (monthly, quarterly, annually), regardless of drift.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g3e04d4973f5_3_217"/>
          <p:cNvCxnSpPr/>
          <p:nvPr/>
        </p:nvCxnSpPr>
        <p:spPr>
          <a:xfrm>
            <a:off x="5081911" y="3096575"/>
            <a:ext cx="3405300" cy="0"/>
          </a:xfrm>
          <a:prstGeom prst="straightConnector1">
            <a:avLst/>
          </a:prstGeom>
          <a:noFill/>
          <a:ln w="12700" cap="flat" cmpd="sng">
            <a:solidFill>
              <a:srgbClr val="D8DEE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" name="Google Shape;296;g3e04d4973f5_3_217"/>
          <p:cNvCxnSpPr/>
          <p:nvPr/>
        </p:nvCxnSpPr>
        <p:spPr>
          <a:xfrm>
            <a:off x="5081911" y="2456495"/>
            <a:ext cx="3405300" cy="0"/>
          </a:xfrm>
          <a:prstGeom prst="straightConnector1">
            <a:avLst/>
          </a:prstGeom>
          <a:noFill/>
          <a:ln w="12700" cap="flat" cmpd="sng">
            <a:solidFill>
              <a:srgbClr val="5A6B7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97" name="Google Shape;297;g3e04d4973f5_3_217"/>
          <p:cNvSpPr/>
          <p:nvPr/>
        </p:nvSpPr>
        <p:spPr>
          <a:xfrm>
            <a:off x="5081911" y="2255327"/>
            <a:ext cx="85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Target weight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g3e04d4973f5_3_217"/>
          <p:cNvCxnSpPr/>
          <p:nvPr/>
        </p:nvCxnSpPr>
        <p:spPr>
          <a:xfrm>
            <a:off x="5081911" y="2456495"/>
            <a:ext cx="783300" cy="502800"/>
          </a:xfrm>
          <a:prstGeom prst="straightConnector1">
            <a:avLst/>
          </a:prstGeom>
          <a:noFill/>
          <a:ln w="3175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g3e04d4973f5_3_217"/>
          <p:cNvCxnSpPr/>
          <p:nvPr/>
        </p:nvCxnSpPr>
        <p:spPr>
          <a:xfrm>
            <a:off x="5933267" y="2456495"/>
            <a:ext cx="0" cy="502800"/>
          </a:xfrm>
          <a:prstGeom prst="straightConnector1">
            <a:avLst/>
          </a:prstGeom>
          <a:noFill/>
          <a:ln w="190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0" name="Google Shape;300;g3e04d4973f5_3_217"/>
          <p:cNvSpPr/>
          <p:nvPr/>
        </p:nvSpPr>
        <p:spPr>
          <a:xfrm>
            <a:off x="5873755" y="2374199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e04d4973f5_3_217"/>
          <p:cNvSpPr/>
          <p:nvPr/>
        </p:nvSpPr>
        <p:spPr>
          <a:xfrm>
            <a:off x="5635706" y="3142295"/>
            <a:ext cx="595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Q1-end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04d4973f5_3_217"/>
          <p:cNvSpPr/>
          <p:nvPr/>
        </p:nvSpPr>
        <p:spPr>
          <a:xfrm>
            <a:off x="5338145" y="1907855"/>
            <a:ext cx="119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TRADE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(rebalance)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g3e04d4973f5_3_217"/>
          <p:cNvCxnSpPr/>
          <p:nvPr/>
        </p:nvCxnSpPr>
        <p:spPr>
          <a:xfrm>
            <a:off x="5933267" y="2456495"/>
            <a:ext cx="783300" cy="594300"/>
          </a:xfrm>
          <a:prstGeom prst="straightConnector1">
            <a:avLst/>
          </a:prstGeom>
          <a:noFill/>
          <a:ln w="3175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g3e04d4973f5_3_217"/>
          <p:cNvCxnSpPr/>
          <p:nvPr/>
        </p:nvCxnSpPr>
        <p:spPr>
          <a:xfrm>
            <a:off x="6784622" y="2456495"/>
            <a:ext cx="0" cy="594300"/>
          </a:xfrm>
          <a:prstGeom prst="straightConnector1">
            <a:avLst/>
          </a:prstGeom>
          <a:noFill/>
          <a:ln w="190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5" name="Google Shape;305;g3e04d4973f5_3_217"/>
          <p:cNvSpPr/>
          <p:nvPr/>
        </p:nvSpPr>
        <p:spPr>
          <a:xfrm>
            <a:off x="6725110" y="2374199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e04d4973f5_3_217"/>
          <p:cNvSpPr/>
          <p:nvPr/>
        </p:nvSpPr>
        <p:spPr>
          <a:xfrm>
            <a:off x="6487061" y="3142295"/>
            <a:ext cx="595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Q2-end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g3e04d4973f5_3_217"/>
          <p:cNvCxnSpPr/>
          <p:nvPr/>
        </p:nvCxnSpPr>
        <p:spPr>
          <a:xfrm>
            <a:off x="6784622" y="2456495"/>
            <a:ext cx="783300" cy="502800"/>
          </a:xfrm>
          <a:prstGeom prst="straightConnector1">
            <a:avLst/>
          </a:prstGeom>
          <a:noFill/>
          <a:ln w="3175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g3e04d4973f5_3_217"/>
          <p:cNvCxnSpPr/>
          <p:nvPr/>
        </p:nvCxnSpPr>
        <p:spPr>
          <a:xfrm>
            <a:off x="7635977" y="2456495"/>
            <a:ext cx="0" cy="502800"/>
          </a:xfrm>
          <a:prstGeom prst="straightConnector1">
            <a:avLst/>
          </a:prstGeom>
          <a:noFill/>
          <a:ln w="190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9" name="Google Shape;309;g3e04d4973f5_3_217"/>
          <p:cNvSpPr/>
          <p:nvPr/>
        </p:nvSpPr>
        <p:spPr>
          <a:xfrm>
            <a:off x="7576465" y="2374199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e04d4973f5_3_217"/>
          <p:cNvSpPr/>
          <p:nvPr/>
        </p:nvSpPr>
        <p:spPr>
          <a:xfrm>
            <a:off x="7338416" y="3142295"/>
            <a:ext cx="595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Q3-end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g3e04d4973f5_3_217"/>
          <p:cNvCxnSpPr/>
          <p:nvPr/>
        </p:nvCxnSpPr>
        <p:spPr>
          <a:xfrm>
            <a:off x="7635977" y="2456495"/>
            <a:ext cx="783300" cy="594300"/>
          </a:xfrm>
          <a:prstGeom prst="straightConnector1">
            <a:avLst/>
          </a:prstGeom>
          <a:noFill/>
          <a:ln w="3175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g3e04d4973f5_3_217"/>
          <p:cNvCxnSpPr/>
          <p:nvPr/>
        </p:nvCxnSpPr>
        <p:spPr>
          <a:xfrm>
            <a:off x="8487333" y="2456495"/>
            <a:ext cx="0" cy="594300"/>
          </a:xfrm>
          <a:prstGeom prst="straightConnector1">
            <a:avLst/>
          </a:prstGeom>
          <a:noFill/>
          <a:ln w="190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13" name="Google Shape;313;g3e04d4973f5_3_217"/>
          <p:cNvSpPr/>
          <p:nvPr/>
        </p:nvSpPr>
        <p:spPr>
          <a:xfrm>
            <a:off x="8427820" y="2374199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e04d4973f5_3_217"/>
          <p:cNvSpPr/>
          <p:nvPr/>
        </p:nvSpPr>
        <p:spPr>
          <a:xfrm>
            <a:off x="8189772" y="3142295"/>
            <a:ext cx="595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Q4-end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04d4973f5_3_217"/>
          <p:cNvSpPr/>
          <p:nvPr/>
        </p:nvSpPr>
        <p:spPr>
          <a:xfrm>
            <a:off x="5079585" y="5446867"/>
            <a:ext cx="3405300" cy="405000"/>
          </a:xfrm>
          <a:prstGeom prst="rect">
            <a:avLst/>
          </a:prstGeom>
          <a:solidFill>
            <a:srgbClr val="CFE2F3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6" name="Google Shape;316;g3e04d4973f5_3_217"/>
          <p:cNvCxnSpPr/>
          <p:nvPr/>
        </p:nvCxnSpPr>
        <p:spPr>
          <a:xfrm>
            <a:off x="5079585" y="5649341"/>
            <a:ext cx="3405300" cy="0"/>
          </a:xfrm>
          <a:prstGeom prst="straightConnector1">
            <a:avLst/>
          </a:prstGeom>
          <a:noFill/>
          <a:ln w="12700" cap="flat" cmpd="sng">
            <a:solidFill>
              <a:srgbClr val="5A6B7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17" name="Google Shape;317;g3e04d4973f5_3_217"/>
          <p:cNvSpPr/>
          <p:nvPr/>
        </p:nvSpPr>
        <p:spPr>
          <a:xfrm>
            <a:off x="5172788" y="5667629"/>
            <a:ext cx="72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Target 60%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04d4973f5_3_217"/>
          <p:cNvSpPr/>
          <p:nvPr/>
        </p:nvSpPr>
        <p:spPr>
          <a:xfrm>
            <a:off x="7426914" y="5245699"/>
            <a:ext cx="1058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12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+25</a:t>
            </a:r>
            <a:r>
              <a:rPr lang="en-US" sz="8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band (</a:t>
            </a:r>
            <a:r>
              <a:rPr lang="en-US" sz="8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5%)</a:t>
            </a:r>
            <a:endParaRPr sz="8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04d4973f5_3_217"/>
          <p:cNvSpPr/>
          <p:nvPr/>
        </p:nvSpPr>
        <p:spPr>
          <a:xfrm>
            <a:off x="7426914" y="5870103"/>
            <a:ext cx="1058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12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−25</a:t>
            </a:r>
            <a:r>
              <a:rPr lang="en-US" sz="8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band (</a:t>
            </a:r>
            <a:r>
              <a:rPr lang="en-US" sz="8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lang="en-US" sz="8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sz="8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g3e04d4973f5_3_217"/>
          <p:cNvCxnSpPr/>
          <p:nvPr/>
        </p:nvCxnSpPr>
        <p:spPr>
          <a:xfrm rot="10800000" flipH="1">
            <a:off x="5263219" y="5568341"/>
            <a:ext cx="579000" cy="810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g3e04d4973f5_3_217"/>
          <p:cNvCxnSpPr/>
          <p:nvPr/>
        </p:nvCxnSpPr>
        <p:spPr>
          <a:xfrm rot="10800000" flipH="1">
            <a:off x="5828756" y="5467251"/>
            <a:ext cx="681000" cy="1011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g3e04d4973f5_3_217"/>
          <p:cNvCxnSpPr/>
          <p:nvPr/>
        </p:nvCxnSpPr>
        <p:spPr>
          <a:xfrm rot="10800000" flipH="1">
            <a:off x="6509821" y="5386114"/>
            <a:ext cx="681000" cy="810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g3e04d4973f5_3_217"/>
          <p:cNvCxnSpPr/>
          <p:nvPr/>
        </p:nvCxnSpPr>
        <p:spPr>
          <a:xfrm>
            <a:off x="7190887" y="5386124"/>
            <a:ext cx="136200" cy="263100"/>
          </a:xfrm>
          <a:prstGeom prst="straightConnector1">
            <a:avLst/>
          </a:prstGeom>
          <a:noFill/>
          <a:ln w="31750" cap="flat" cmpd="sng">
            <a:solidFill>
              <a:srgbClr val="D94F4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4" name="Google Shape;324;g3e04d4973f5_3_217"/>
          <p:cNvCxnSpPr/>
          <p:nvPr/>
        </p:nvCxnSpPr>
        <p:spPr>
          <a:xfrm rot="10800000" flipH="1">
            <a:off x="7327100" y="5629241"/>
            <a:ext cx="817200" cy="20100"/>
          </a:xfrm>
          <a:prstGeom prst="straightConnector1">
            <a:avLst/>
          </a:prstGeom>
          <a:noFill/>
          <a:ln w="31750" cap="flat" cmpd="sng">
            <a:solidFill>
              <a:srgbClr val="3C6E9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5" name="Google Shape;325;g3e04d4973f5_3_217"/>
          <p:cNvSpPr/>
          <p:nvPr/>
        </p:nvSpPr>
        <p:spPr>
          <a:xfrm>
            <a:off x="7131376" y="5303828"/>
            <a:ext cx="119100" cy="164700"/>
          </a:xfrm>
          <a:prstGeom prst="ellipse">
            <a:avLst/>
          </a:prstGeom>
          <a:solidFill>
            <a:srgbClr val="D94F4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e04d4973f5_3_217"/>
          <p:cNvSpPr/>
          <p:nvPr/>
        </p:nvSpPr>
        <p:spPr>
          <a:xfrm>
            <a:off x="5338150" y="5121199"/>
            <a:ext cx="1836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Breach → SELL </a:t>
            </a:r>
            <a:r>
              <a:rPr lang="en-US" sz="900" b="1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r>
              <a:rPr lang="en-US" sz="900" b="1" i="0" u="none" strike="noStrike" cap="none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% * </a:t>
            </a:r>
            <a:r>
              <a:rPr lang="en-US" sz="900" b="1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25% BREACH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e04d4973f5_3_217"/>
          <p:cNvSpPr/>
          <p:nvPr/>
        </p:nvSpPr>
        <p:spPr>
          <a:xfrm>
            <a:off x="4467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04d4973f5_3_217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50"/>
              <a:buFont typeface="Calibri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How the engine decides when to trade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e9666e3e4_3_3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de9666e3e4_3_3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</a:t>
            </a:r>
            <a:endParaRPr sz="1600" b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e9666e3e4_3_3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 Costs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de9666e3e4_3_3"/>
          <p:cNvSpPr/>
          <p:nvPr/>
        </p:nvSpPr>
        <p:spPr>
          <a:xfrm>
            <a:off x="204756" y="1292781"/>
            <a:ext cx="2743200" cy="518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de9666e3e4_3_3"/>
          <p:cNvSpPr/>
          <p:nvPr/>
        </p:nvSpPr>
        <p:spPr>
          <a:xfrm>
            <a:off x="204756" y="1292781"/>
            <a:ext cx="2743200" cy="85200"/>
          </a:xfrm>
          <a:prstGeom prst="rect">
            <a:avLst/>
          </a:prstGeom>
          <a:solidFill>
            <a:srgbClr val="2A6DD9"/>
          </a:solidFill>
          <a:ln w="12700" cap="flat" cmpd="sng">
            <a:solidFill>
              <a:srgbClr val="2A6D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de9666e3e4_3_3"/>
          <p:cNvSpPr/>
          <p:nvPr/>
        </p:nvSpPr>
        <p:spPr>
          <a:xfrm>
            <a:off x="369306" y="1475661"/>
            <a:ext cx="2414100" cy="42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A6DD9"/>
                </a:solidFill>
                <a:latin typeface="Calibri"/>
                <a:ea typeface="Calibri"/>
                <a:cs typeface="Calibri"/>
                <a:sym typeface="Calibri"/>
              </a:rPr>
              <a:t>Taxes</a:t>
            </a:r>
            <a:endParaRPr sz="2200" b="1">
              <a:solidFill>
                <a:srgbClr val="2A6D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de9666e3e4_3_3"/>
          <p:cNvSpPr/>
          <p:nvPr/>
        </p:nvSpPr>
        <p:spPr>
          <a:xfrm>
            <a:off x="369306" y="2000250"/>
            <a:ext cx="2414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Short Term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=&lt; 1 year held</a:t>
            </a:r>
            <a:endParaRPr sz="14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A6DD9"/>
                </a:solidFill>
                <a:latin typeface="Calibri"/>
                <a:ea typeface="Calibri"/>
                <a:cs typeface="Calibri"/>
                <a:sym typeface="Calibri"/>
              </a:rPr>
              <a:t>35% </a:t>
            </a: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gains</a:t>
            </a:r>
            <a:endParaRPr sz="1600"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de9666e3e4_3_3"/>
          <p:cNvSpPr/>
          <p:nvPr/>
        </p:nvSpPr>
        <p:spPr>
          <a:xfrm>
            <a:off x="369306" y="3905250"/>
            <a:ext cx="2414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Long Term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&gt; 1 year held</a:t>
            </a:r>
            <a:endParaRPr sz="14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A6DD9"/>
                </a:solidFill>
                <a:latin typeface="Calibri"/>
                <a:ea typeface="Calibri"/>
                <a:cs typeface="Calibri"/>
                <a:sym typeface="Calibri"/>
              </a:rPr>
              <a:t>20% </a:t>
            </a: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gains</a:t>
            </a:r>
            <a:endParaRPr sz="1600"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e9666e3e4_3_3"/>
          <p:cNvSpPr/>
          <p:nvPr/>
        </p:nvSpPr>
        <p:spPr>
          <a:xfrm>
            <a:off x="3156147" y="1292781"/>
            <a:ext cx="2743200" cy="518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de9666e3e4_3_3"/>
          <p:cNvSpPr/>
          <p:nvPr/>
        </p:nvSpPr>
        <p:spPr>
          <a:xfrm>
            <a:off x="3156147" y="1292781"/>
            <a:ext cx="2743200" cy="85200"/>
          </a:xfrm>
          <a:prstGeom prst="rect">
            <a:avLst/>
          </a:prstGeom>
          <a:solidFill>
            <a:srgbClr val="4BACC6"/>
          </a:solidFill>
          <a:ln w="12700" cap="flat" cmpd="sng">
            <a:solidFill>
              <a:srgbClr val="4BAC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de9666e3e4_3_3"/>
          <p:cNvSpPr/>
          <p:nvPr/>
        </p:nvSpPr>
        <p:spPr>
          <a:xfrm>
            <a:off x="3320697" y="1475661"/>
            <a:ext cx="2414100" cy="42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4BACC6"/>
                </a:solidFill>
                <a:latin typeface="Calibri"/>
                <a:ea typeface="Calibri"/>
                <a:cs typeface="Calibri"/>
                <a:sym typeface="Calibri"/>
              </a:rPr>
              <a:t>Costs</a:t>
            </a:r>
            <a:endParaRPr sz="2200" b="1">
              <a:solidFill>
                <a:srgbClr val="4BAC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e9666e3e4_3_3"/>
          <p:cNvSpPr/>
          <p:nvPr/>
        </p:nvSpPr>
        <p:spPr>
          <a:xfrm>
            <a:off x="3320697" y="2000250"/>
            <a:ext cx="2414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Slippage, Bid-Ask Spread, Execution Costs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BACC6"/>
                </a:solidFill>
                <a:latin typeface="Calibri"/>
                <a:ea typeface="Calibri"/>
                <a:cs typeface="Calibri"/>
                <a:sym typeface="Calibri"/>
              </a:rPr>
              <a:t>12 bps </a:t>
            </a: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trade</a:t>
            </a:r>
            <a:endParaRPr sz="1600"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e9666e3e4_3_3"/>
          <p:cNvSpPr/>
          <p:nvPr/>
        </p:nvSpPr>
        <p:spPr>
          <a:xfrm>
            <a:off x="6130965" y="1292781"/>
            <a:ext cx="2743200" cy="518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de9666e3e4_3_3"/>
          <p:cNvSpPr/>
          <p:nvPr/>
        </p:nvSpPr>
        <p:spPr>
          <a:xfrm>
            <a:off x="6130965" y="1292781"/>
            <a:ext cx="2743200" cy="85200"/>
          </a:xfrm>
          <a:prstGeom prst="rect">
            <a:avLst/>
          </a:prstGeom>
          <a:solidFill>
            <a:srgbClr val="12B58A"/>
          </a:solidFill>
          <a:ln w="12700" cap="flat" cmpd="sng">
            <a:solidFill>
              <a:srgbClr val="12B5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de9666e3e4_3_3"/>
          <p:cNvSpPr/>
          <p:nvPr/>
        </p:nvSpPr>
        <p:spPr>
          <a:xfrm>
            <a:off x="6295515" y="1475661"/>
            <a:ext cx="2414100" cy="42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2B58A"/>
                </a:solidFill>
                <a:latin typeface="Calibri"/>
                <a:ea typeface="Calibri"/>
                <a:cs typeface="Calibri"/>
                <a:sym typeface="Calibri"/>
              </a:rPr>
              <a:t>Liquidation</a:t>
            </a:r>
            <a:endParaRPr sz="2200" b="1">
              <a:solidFill>
                <a:srgbClr val="12B5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e9666e3e4_3_3"/>
          <p:cNvSpPr/>
          <p:nvPr/>
        </p:nvSpPr>
        <p:spPr>
          <a:xfrm>
            <a:off x="6295515" y="2000250"/>
            <a:ext cx="2414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Sell portfolio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Calculated on the final day of the investment period.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de9666e3e4_3_3"/>
          <p:cNvSpPr/>
          <p:nvPr/>
        </p:nvSpPr>
        <p:spPr>
          <a:xfrm>
            <a:off x="6295515" y="3905250"/>
            <a:ext cx="2414100" cy="18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Report Summary Stats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Volatility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Net Value-Add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Tracking Error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e9666e3e4_3_3"/>
          <p:cNvSpPr/>
          <p:nvPr/>
        </p:nvSpPr>
        <p:spPr>
          <a:xfrm>
            <a:off x="3320697" y="3905250"/>
            <a:ext cx="24141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sz="16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 applicable for current engine configuration.</a:t>
            </a:r>
            <a:endParaRPr sz="1300" b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g3de9666e3e4_3_3"/>
          <p:cNvCxnSpPr/>
          <p:nvPr/>
        </p:nvCxnSpPr>
        <p:spPr>
          <a:xfrm>
            <a:off x="204756" y="3762375"/>
            <a:ext cx="27432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g3de9666e3e4_3_3"/>
          <p:cNvCxnSpPr/>
          <p:nvPr/>
        </p:nvCxnSpPr>
        <p:spPr>
          <a:xfrm>
            <a:off x="3156147" y="3762375"/>
            <a:ext cx="27432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3" name="Google Shape;353;g3de9666e3e4_3_3"/>
          <p:cNvCxnSpPr/>
          <p:nvPr/>
        </p:nvCxnSpPr>
        <p:spPr>
          <a:xfrm>
            <a:off x="6130965" y="3762375"/>
            <a:ext cx="27432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g3de9666e3e4_3_3"/>
          <p:cNvSpPr/>
          <p:nvPr/>
        </p:nvSpPr>
        <p:spPr>
          <a:xfrm>
            <a:off x="4467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de9666e3e4_3_3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What gets deducted from every trade and every dollar of gain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g3e04d4973f5_3_0"/>
          <p:cNvGrpSpPr/>
          <p:nvPr/>
        </p:nvGrpSpPr>
        <p:grpSpPr>
          <a:xfrm>
            <a:off x="976284" y="1197154"/>
            <a:ext cx="7191432" cy="5342503"/>
            <a:chOff x="781050" y="1036505"/>
            <a:chExt cx="7581900" cy="5632581"/>
          </a:xfrm>
        </p:grpSpPr>
        <p:sp>
          <p:nvSpPr>
            <p:cNvPr id="361" name="Google Shape;361;g3e04d4973f5_3_0"/>
            <p:cNvSpPr/>
            <p:nvPr/>
          </p:nvSpPr>
          <p:spPr>
            <a:xfrm>
              <a:off x="781050" y="1036505"/>
              <a:ext cx="7581900" cy="541800"/>
            </a:xfrm>
            <a:prstGeom prst="rect">
              <a:avLst/>
            </a:prstGeom>
            <a:solidFill>
              <a:srgbClr val="0D1B2A"/>
            </a:solidFill>
            <a:ln w="20400" cap="flat" cmpd="sng">
              <a:solidFill>
                <a:srgbClr val="0D1B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g3e04d4973f5_3_0"/>
            <p:cNvSpPr/>
            <p:nvPr/>
          </p:nvSpPr>
          <p:spPr>
            <a:xfrm>
              <a:off x="811997" y="1036505"/>
              <a:ext cx="8976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Trade ID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g3e04d4973f5_3_0"/>
            <p:cNvSpPr/>
            <p:nvPr/>
          </p:nvSpPr>
          <p:spPr>
            <a:xfrm>
              <a:off x="1740404" y="1036505"/>
              <a:ext cx="12066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Date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g3e04d4973f5_3_0"/>
            <p:cNvSpPr/>
            <p:nvPr/>
          </p:nvSpPr>
          <p:spPr>
            <a:xfrm>
              <a:off x="2978281" y="1036505"/>
              <a:ext cx="7734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Ticker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g3e04d4973f5_3_0"/>
            <p:cNvSpPr/>
            <p:nvPr/>
          </p:nvSpPr>
          <p:spPr>
            <a:xfrm>
              <a:off x="3782901" y="1036505"/>
              <a:ext cx="9126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g3e04d4973f5_3_0"/>
            <p:cNvSpPr/>
            <p:nvPr/>
          </p:nvSpPr>
          <p:spPr>
            <a:xfrm>
              <a:off x="4726781" y="1036505"/>
              <a:ext cx="6963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Shares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g3e04d4973f5_3_0"/>
            <p:cNvSpPr/>
            <p:nvPr/>
          </p:nvSpPr>
          <p:spPr>
            <a:xfrm>
              <a:off x="5454034" y="1036505"/>
              <a:ext cx="8355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Price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g3e04d4973f5_3_0"/>
            <p:cNvSpPr/>
            <p:nvPr/>
          </p:nvSpPr>
          <p:spPr>
            <a:xfrm>
              <a:off x="6320548" y="1036505"/>
              <a:ext cx="20421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4"/>
                <a:buFont typeface="Calibri"/>
                <a:buNone/>
              </a:pPr>
              <a:r>
                <a:rPr lang="en-US" sz="1204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Reason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g3e04d4973f5_3_0"/>
            <p:cNvSpPr/>
            <p:nvPr/>
          </p:nvSpPr>
          <p:spPr>
            <a:xfrm>
              <a:off x="781050" y="1578076"/>
              <a:ext cx="7581900" cy="727500"/>
            </a:xfrm>
            <a:prstGeom prst="rect">
              <a:avLst/>
            </a:prstGeom>
            <a:solidFill>
              <a:srgbClr val="FFFFFF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g3e04d4973f5_3_0"/>
            <p:cNvSpPr/>
            <p:nvPr/>
          </p:nvSpPr>
          <p:spPr>
            <a:xfrm>
              <a:off x="811997" y="1701863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T000001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g3e04d4973f5_3_0"/>
            <p:cNvSpPr/>
            <p:nvPr/>
          </p:nvSpPr>
          <p:spPr>
            <a:xfrm>
              <a:off x="1740404" y="1701863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2020-01-02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g3e04d4973f5_3_0"/>
            <p:cNvSpPr/>
            <p:nvPr/>
          </p:nvSpPr>
          <p:spPr>
            <a:xfrm>
              <a:off x="2978281" y="1701863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g3e04d4973f5_3_0"/>
            <p:cNvSpPr/>
            <p:nvPr/>
          </p:nvSpPr>
          <p:spPr>
            <a:xfrm>
              <a:off x="3782901" y="1732810"/>
              <a:ext cx="850500" cy="417900"/>
            </a:xfrm>
            <a:prstGeom prst="rect">
              <a:avLst/>
            </a:prstGeom>
            <a:solidFill>
              <a:srgbClr val="DCFCE7"/>
            </a:solidFill>
            <a:ln w="204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g3e04d4973f5_3_0"/>
            <p:cNvSpPr/>
            <p:nvPr/>
          </p:nvSpPr>
          <p:spPr>
            <a:xfrm>
              <a:off x="3782901" y="1732810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5803D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BUY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g3e04d4973f5_3_0"/>
            <p:cNvSpPr/>
            <p:nvPr/>
          </p:nvSpPr>
          <p:spPr>
            <a:xfrm>
              <a:off x="4726781" y="1701863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153.91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g3e04d4973f5_3_0"/>
            <p:cNvSpPr/>
            <p:nvPr/>
          </p:nvSpPr>
          <p:spPr>
            <a:xfrm>
              <a:off x="5454034" y="1701863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324.87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g3e04d4973f5_3_0"/>
            <p:cNvSpPr/>
            <p:nvPr/>
          </p:nvSpPr>
          <p:spPr>
            <a:xfrm>
              <a:off x="6320548" y="1701863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INIT:SPY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g3e04d4973f5_3_0"/>
            <p:cNvSpPr/>
            <p:nvPr/>
          </p:nvSpPr>
          <p:spPr>
            <a:xfrm>
              <a:off x="781050" y="2305327"/>
              <a:ext cx="7581900" cy="727500"/>
            </a:xfrm>
            <a:prstGeom prst="rect">
              <a:avLst/>
            </a:prstGeom>
            <a:solidFill>
              <a:srgbClr val="F8FAFC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g3e04d4973f5_3_0"/>
            <p:cNvSpPr/>
            <p:nvPr/>
          </p:nvSpPr>
          <p:spPr>
            <a:xfrm>
              <a:off x="811997" y="2429115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T000002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g3e04d4973f5_3_0"/>
            <p:cNvSpPr/>
            <p:nvPr/>
          </p:nvSpPr>
          <p:spPr>
            <a:xfrm>
              <a:off x="1740404" y="2429115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2020-01-02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g3e04d4973f5_3_0"/>
            <p:cNvSpPr/>
            <p:nvPr/>
          </p:nvSpPr>
          <p:spPr>
            <a:xfrm>
              <a:off x="2978281" y="2429115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GLD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g3e04d4973f5_3_0"/>
            <p:cNvSpPr/>
            <p:nvPr/>
          </p:nvSpPr>
          <p:spPr>
            <a:xfrm>
              <a:off x="3782901" y="2460062"/>
              <a:ext cx="850500" cy="417900"/>
            </a:xfrm>
            <a:prstGeom prst="rect">
              <a:avLst/>
            </a:prstGeom>
            <a:solidFill>
              <a:srgbClr val="DCFCE7"/>
            </a:solidFill>
            <a:ln w="20400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g3e04d4973f5_3_0"/>
            <p:cNvSpPr/>
            <p:nvPr/>
          </p:nvSpPr>
          <p:spPr>
            <a:xfrm>
              <a:off x="3782901" y="2460062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5803D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BUY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g3e04d4973f5_3_0"/>
            <p:cNvSpPr/>
            <p:nvPr/>
          </p:nvSpPr>
          <p:spPr>
            <a:xfrm>
              <a:off x="4726781" y="2429115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346.51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g3e04d4973f5_3_0"/>
            <p:cNvSpPr/>
            <p:nvPr/>
          </p:nvSpPr>
          <p:spPr>
            <a:xfrm>
              <a:off x="5454034" y="2429115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143.95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e04d4973f5_3_0"/>
            <p:cNvSpPr/>
            <p:nvPr/>
          </p:nvSpPr>
          <p:spPr>
            <a:xfrm>
              <a:off x="6320548" y="2429115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INIT:GLD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e04d4973f5_3_0"/>
            <p:cNvSpPr/>
            <p:nvPr/>
          </p:nvSpPr>
          <p:spPr>
            <a:xfrm>
              <a:off x="781050" y="3032579"/>
              <a:ext cx="7581900" cy="727500"/>
            </a:xfrm>
            <a:prstGeom prst="rect">
              <a:avLst/>
            </a:prstGeom>
            <a:solidFill>
              <a:srgbClr val="FFFFFF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g3e04d4973f5_3_0"/>
            <p:cNvSpPr/>
            <p:nvPr/>
          </p:nvSpPr>
          <p:spPr>
            <a:xfrm>
              <a:off x="811997" y="3156367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e04d4973f5_3_0"/>
            <p:cNvSpPr/>
            <p:nvPr/>
          </p:nvSpPr>
          <p:spPr>
            <a:xfrm>
              <a:off x="1740404" y="3156367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2020-01-31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e04d4973f5_3_0"/>
            <p:cNvSpPr/>
            <p:nvPr/>
          </p:nvSpPr>
          <p:spPr>
            <a:xfrm>
              <a:off x="2978281" y="3156367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g3e04d4973f5_3_0"/>
            <p:cNvSpPr/>
            <p:nvPr/>
          </p:nvSpPr>
          <p:spPr>
            <a:xfrm>
              <a:off x="3782901" y="3187314"/>
              <a:ext cx="850500" cy="417900"/>
            </a:xfrm>
            <a:prstGeom prst="rect">
              <a:avLst/>
            </a:prstGeom>
            <a:solidFill>
              <a:srgbClr val="DBEAFE"/>
            </a:solidFill>
            <a:ln w="20400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g3e04d4973f5_3_0"/>
            <p:cNvSpPr/>
            <p:nvPr/>
          </p:nvSpPr>
          <p:spPr>
            <a:xfrm>
              <a:off x="3782901" y="3187314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D4ED8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DRIP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g3e04d4973f5_3_0"/>
            <p:cNvSpPr/>
            <p:nvPr/>
          </p:nvSpPr>
          <p:spPr>
            <a:xfrm>
              <a:off x="4726781" y="3156367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0.60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g3e04d4973f5_3_0"/>
            <p:cNvSpPr/>
            <p:nvPr/>
          </p:nvSpPr>
          <p:spPr>
            <a:xfrm>
              <a:off x="5454034" y="3156367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321.73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g3e04d4973f5_3_0"/>
            <p:cNvSpPr/>
            <p:nvPr/>
          </p:nvSpPr>
          <p:spPr>
            <a:xfrm>
              <a:off x="6320548" y="3156367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4"/>
                <a:buFont typeface="Calibri"/>
                <a:buNone/>
              </a:pP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g3e04d4973f5_3_0"/>
            <p:cNvSpPr/>
            <p:nvPr/>
          </p:nvSpPr>
          <p:spPr>
            <a:xfrm>
              <a:off x="781050" y="3759831"/>
              <a:ext cx="7581900" cy="727500"/>
            </a:xfrm>
            <a:prstGeom prst="rect">
              <a:avLst/>
            </a:prstGeom>
            <a:solidFill>
              <a:srgbClr val="F8FAFC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g3e04d4973f5_3_0"/>
            <p:cNvSpPr/>
            <p:nvPr/>
          </p:nvSpPr>
          <p:spPr>
            <a:xfrm>
              <a:off x="811997" y="3883619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T000004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g3e04d4973f5_3_0"/>
            <p:cNvSpPr/>
            <p:nvPr/>
          </p:nvSpPr>
          <p:spPr>
            <a:xfrm>
              <a:off x="1740404" y="3883619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2020-03-03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g3e04d4973f5_3_0"/>
            <p:cNvSpPr/>
            <p:nvPr/>
          </p:nvSpPr>
          <p:spPr>
            <a:xfrm>
              <a:off x="2978281" y="3883619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g3e04d4973f5_3_0"/>
            <p:cNvSpPr/>
            <p:nvPr/>
          </p:nvSpPr>
          <p:spPr>
            <a:xfrm>
              <a:off x="3782901" y="3914565"/>
              <a:ext cx="850500" cy="417900"/>
            </a:xfrm>
            <a:prstGeom prst="rect">
              <a:avLst/>
            </a:prstGeom>
            <a:solidFill>
              <a:srgbClr val="FEE2E2"/>
            </a:solidFill>
            <a:ln w="20400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g3e04d4973f5_3_0"/>
            <p:cNvSpPr/>
            <p:nvPr/>
          </p:nvSpPr>
          <p:spPr>
            <a:xfrm>
              <a:off x="3782901" y="3914565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91C1C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B91C1C"/>
                  </a:solidFill>
                  <a:latin typeface="Calibri"/>
                  <a:ea typeface="Calibri"/>
                  <a:cs typeface="Calibri"/>
                  <a:sym typeface="Calibri"/>
                </a:rPr>
                <a:t>SELL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g3e04d4973f5_3_0"/>
            <p:cNvSpPr/>
            <p:nvPr/>
          </p:nvSpPr>
          <p:spPr>
            <a:xfrm>
              <a:off x="4726781" y="3883619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153.91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g3e04d4973f5_3_0"/>
            <p:cNvSpPr/>
            <p:nvPr/>
          </p:nvSpPr>
          <p:spPr>
            <a:xfrm>
              <a:off x="5454034" y="3883619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300.24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g3e04d4973f5_3_0"/>
            <p:cNvSpPr/>
            <p:nvPr/>
          </p:nvSpPr>
          <p:spPr>
            <a:xfrm>
              <a:off x="6320548" y="3883619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TLH_SELL:SPY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g3e04d4973f5_3_0"/>
            <p:cNvSpPr/>
            <p:nvPr/>
          </p:nvSpPr>
          <p:spPr>
            <a:xfrm>
              <a:off x="781050" y="4487083"/>
              <a:ext cx="7581900" cy="727500"/>
            </a:xfrm>
            <a:prstGeom prst="rect">
              <a:avLst/>
            </a:prstGeom>
            <a:solidFill>
              <a:srgbClr val="FFFFFF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g3e04d4973f5_3_0"/>
            <p:cNvSpPr/>
            <p:nvPr/>
          </p:nvSpPr>
          <p:spPr>
            <a:xfrm>
              <a:off x="811997" y="4610870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T000005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g3e04d4973f5_3_0"/>
            <p:cNvSpPr/>
            <p:nvPr/>
          </p:nvSpPr>
          <p:spPr>
            <a:xfrm>
              <a:off x="1740404" y="4610870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2020-03-03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g3e04d4973f5_3_0"/>
            <p:cNvSpPr/>
            <p:nvPr/>
          </p:nvSpPr>
          <p:spPr>
            <a:xfrm>
              <a:off x="2978281" y="4610870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OEF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g3e04d4973f5_3_0"/>
            <p:cNvSpPr/>
            <p:nvPr/>
          </p:nvSpPr>
          <p:spPr>
            <a:xfrm>
              <a:off x="3782901" y="4641817"/>
              <a:ext cx="850500" cy="417900"/>
            </a:xfrm>
            <a:prstGeom prst="rect">
              <a:avLst/>
            </a:prstGeom>
            <a:solidFill>
              <a:srgbClr val="FEF3C7"/>
            </a:solidFill>
            <a:ln w="20400" cap="flat" cmpd="sng">
              <a:solidFill>
                <a:srgbClr val="FEF3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g3e04d4973f5_3_0"/>
            <p:cNvSpPr/>
            <p:nvPr/>
          </p:nvSpPr>
          <p:spPr>
            <a:xfrm>
              <a:off x="3782901" y="4641817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TLH_REE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g3e04d4973f5_3_0"/>
            <p:cNvSpPr/>
            <p:nvPr/>
          </p:nvSpPr>
          <p:spPr>
            <a:xfrm>
              <a:off x="4726781" y="4610870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341.75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g3e04d4973f5_3_0"/>
            <p:cNvSpPr/>
            <p:nvPr/>
          </p:nvSpPr>
          <p:spPr>
            <a:xfrm>
              <a:off x="5454034" y="4610870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134.89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g3e04d4973f5_3_0"/>
            <p:cNvSpPr/>
            <p:nvPr/>
          </p:nvSpPr>
          <p:spPr>
            <a:xfrm>
              <a:off x="6320548" y="4610870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TLH_REBUY_FOR:SPY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g3e04d4973f5_3_0"/>
            <p:cNvSpPr/>
            <p:nvPr/>
          </p:nvSpPr>
          <p:spPr>
            <a:xfrm>
              <a:off x="781050" y="5214335"/>
              <a:ext cx="7581900" cy="727500"/>
            </a:xfrm>
            <a:prstGeom prst="rect">
              <a:avLst/>
            </a:prstGeom>
            <a:solidFill>
              <a:srgbClr val="F8FAFC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g3e04d4973f5_3_0"/>
            <p:cNvSpPr/>
            <p:nvPr/>
          </p:nvSpPr>
          <p:spPr>
            <a:xfrm>
              <a:off x="811997" y="5338122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T000006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g3e04d4973f5_3_0"/>
            <p:cNvSpPr/>
            <p:nvPr/>
          </p:nvSpPr>
          <p:spPr>
            <a:xfrm>
              <a:off x="1740404" y="5338122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2020-03-03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g3e04d4973f5_3_0"/>
            <p:cNvSpPr/>
            <p:nvPr/>
          </p:nvSpPr>
          <p:spPr>
            <a:xfrm>
              <a:off x="2978281" y="5338122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g3e04d4973f5_3_0"/>
            <p:cNvSpPr/>
            <p:nvPr/>
          </p:nvSpPr>
          <p:spPr>
            <a:xfrm>
              <a:off x="3782901" y="5369069"/>
              <a:ext cx="850500" cy="417900"/>
            </a:xfrm>
            <a:prstGeom prst="rect">
              <a:avLst/>
            </a:prstGeom>
            <a:solidFill>
              <a:srgbClr val="FEE2E2"/>
            </a:solidFill>
            <a:ln w="20400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g3e04d4973f5_3_0"/>
            <p:cNvSpPr/>
            <p:nvPr/>
          </p:nvSpPr>
          <p:spPr>
            <a:xfrm>
              <a:off x="3782901" y="5369069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B91C1C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B91C1C"/>
                  </a:solidFill>
                  <a:latin typeface="Calibri"/>
                  <a:ea typeface="Calibri"/>
                  <a:cs typeface="Calibri"/>
                  <a:sym typeface="Calibri"/>
                </a:rPr>
                <a:t>SELL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g3e04d4973f5_3_0"/>
            <p:cNvSpPr/>
            <p:nvPr/>
          </p:nvSpPr>
          <p:spPr>
            <a:xfrm>
              <a:off x="4726781" y="5338122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0.60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g3e04d4973f5_3_0"/>
            <p:cNvSpPr/>
            <p:nvPr/>
          </p:nvSpPr>
          <p:spPr>
            <a:xfrm>
              <a:off x="5454034" y="5338122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300.24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g3e04d4973f5_3_0"/>
            <p:cNvSpPr/>
            <p:nvPr/>
          </p:nvSpPr>
          <p:spPr>
            <a:xfrm>
              <a:off x="6320548" y="5338122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TLH_SELL:SPY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g3e04d4973f5_3_0"/>
            <p:cNvSpPr/>
            <p:nvPr/>
          </p:nvSpPr>
          <p:spPr>
            <a:xfrm>
              <a:off x="781050" y="5941586"/>
              <a:ext cx="7581900" cy="727500"/>
            </a:xfrm>
            <a:prstGeom prst="rect">
              <a:avLst/>
            </a:prstGeom>
            <a:solidFill>
              <a:srgbClr val="FFFFFF"/>
            </a:solidFill>
            <a:ln w="204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g3e04d4973f5_3_0"/>
            <p:cNvSpPr/>
            <p:nvPr/>
          </p:nvSpPr>
          <p:spPr>
            <a:xfrm>
              <a:off x="811997" y="6065374"/>
              <a:ext cx="897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T000007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3e04d4973f5_3_0"/>
            <p:cNvSpPr/>
            <p:nvPr/>
          </p:nvSpPr>
          <p:spPr>
            <a:xfrm>
              <a:off x="1740404" y="6065374"/>
              <a:ext cx="12066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2020-03-03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g3e04d4973f5_3_0"/>
            <p:cNvSpPr/>
            <p:nvPr/>
          </p:nvSpPr>
          <p:spPr>
            <a:xfrm>
              <a:off x="2978281" y="6065374"/>
              <a:ext cx="7734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OEF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g3e04d4973f5_3_0"/>
            <p:cNvSpPr/>
            <p:nvPr/>
          </p:nvSpPr>
          <p:spPr>
            <a:xfrm>
              <a:off x="3782901" y="6096321"/>
              <a:ext cx="850500" cy="417900"/>
            </a:xfrm>
            <a:prstGeom prst="rect">
              <a:avLst/>
            </a:prstGeom>
            <a:solidFill>
              <a:srgbClr val="FEF3C7"/>
            </a:solidFill>
            <a:ln w="20400" cap="flat" cmpd="sng">
              <a:solidFill>
                <a:srgbClr val="FEF3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725" tIns="146725" rIns="146725" bIns="146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g3e04d4973f5_3_0"/>
            <p:cNvSpPr/>
            <p:nvPr/>
          </p:nvSpPr>
          <p:spPr>
            <a:xfrm>
              <a:off x="3782901" y="6096321"/>
              <a:ext cx="8505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1124"/>
                <a:buFont typeface="Calibri"/>
                <a:buNone/>
              </a:pPr>
              <a:r>
                <a:rPr lang="en-US" sz="1124" b="1" i="0" u="none" strike="noStrike" cap="none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TLH_REE</a:t>
              </a:r>
              <a:endParaRPr sz="112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g3e04d4973f5_3_0"/>
            <p:cNvSpPr/>
            <p:nvPr/>
          </p:nvSpPr>
          <p:spPr>
            <a:xfrm>
              <a:off x="4726781" y="6065374"/>
              <a:ext cx="6963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1.33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g3e04d4973f5_3_0"/>
            <p:cNvSpPr/>
            <p:nvPr/>
          </p:nvSpPr>
          <p:spPr>
            <a:xfrm>
              <a:off x="5454034" y="6065374"/>
              <a:ext cx="8355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4"/>
                <a:buFont typeface="Calibri"/>
                <a:buNone/>
              </a:pPr>
              <a:r>
                <a:rPr lang="en-US" sz="1204" b="0" i="0" u="none" strike="noStrike" cap="non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134.89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g3e04d4973f5_3_0"/>
            <p:cNvSpPr/>
            <p:nvPr/>
          </p:nvSpPr>
          <p:spPr>
            <a:xfrm>
              <a:off x="6320548" y="6065374"/>
              <a:ext cx="2042100" cy="4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1204"/>
                <a:buFont typeface="Calibri"/>
                <a:buNone/>
              </a:pPr>
              <a:r>
                <a:rPr lang="en-US" sz="1204" b="0" i="1" u="none" strike="noStrike" cap="none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TLH_REBUY_FOR:SPY</a:t>
              </a:r>
              <a:endParaRPr sz="120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g3e04d4973f5_3_0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e04d4973f5_3_0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04d4973f5_3_0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Sample Trade Log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e04d4973f5_3_0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Input: Portfolio · Weights · Time Period · Rebalance Strategy · TLH on/off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04d4973f5_3_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g3e04d4973f5_0_226"/>
          <p:cNvGrpSpPr/>
          <p:nvPr/>
        </p:nvGrpSpPr>
        <p:grpSpPr>
          <a:xfrm>
            <a:off x="342919" y="2357787"/>
            <a:ext cx="8458161" cy="4255500"/>
            <a:chOff x="209114" y="2389017"/>
            <a:chExt cx="8458161" cy="4255500"/>
          </a:xfrm>
        </p:grpSpPr>
        <p:sp>
          <p:nvSpPr>
            <p:cNvPr id="442" name="Google Shape;442;g3e04d4973f5_0_226"/>
            <p:cNvSpPr/>
            <p:nvPr/>
          </p:nvSpPr>
          <p:spPr>
            <a:xfrm>
              <a:off x="209114" y="2389017"/>
              <a:ext cx="1269000" cy="4206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i="1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g3e04d4973f5_0_226"/>
            <p:cNvSpPr/>
            <p:nvPr/>
          </p:nvSpPr>
          <p:spPr>
            <a:xfrm>
              <a:off x="1478161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g3e04d4973f5_0_226"/>
            <p:cNvSpPr txBox="1"/>
            <p:nvPr/>
          </p:nvSpPr>
          <p:spPr>
            <a:xfrm>
              <a:off x="1505600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Bear Market</a:t>
              </a:r>
              <a:endParaRPr/>
            </a:p>
          </p:txBody>
        </p:sp>
        <p:sp>
          <p:nvSpPr>
            <p:cNvPr id="445" name="Google Shape;445;g3e04d4973f5_0_226"/>
            <p:cNvSpPr/>
            <p:nvPr/>
          </p:nvSpPr>
          <p:spPr>
            <a:xfrm>
              <a:off x="2520838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g3e04d4973f5_0_226"/>
            <p:cNvSpPr txBox="1"/>
            <p:nvPr/>
          </p:nvSpPr>
          <p:spPr>
            <a:xfrm>
              <a:off x="2548277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Baseline Market</a:t>
              </a:r>
              <a:endParaRPr/>
            </a:p>
          </p:txBody>
        </p:sp>
        <p:sp>
          <p:nvSpPr>
            <p:cNvPr id="447" name="Google Shape;447;g3e04d4973f5_0_226"/>
            <p:cNvSpPr/>
            <p:nvPr/>
          </p:nvSpPr>
          <p:spPr>
            <a:xfrm>
              <a:off x="3563515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g3e04d4973f5_0_226"/>
            <p:cNvSpPr txBox="1"/>
            <p:nvPr/>
          </p:nvSpPr>
          <p:spPr>
            <a:xfrm>
              <a:off x="3590954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Bull Market</a:t>
              </a:r>
              <a:endParaRPr/>
            </a:p>
          </p:txBody>
        </p:sp>
        <p:sp>
          <p:nvSpPr>
            <p:cNvPr id="449" name="Google Shape;449;g3e04d4973f5_0_226"/>
            <p:cNvSpPr/>
            <p:nvPr/>
          </p:nvSpPr>
          <p:spPr>
            <a:xfrm>
              <a:off x="4606192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g3e04d4973f5_0_226"/>
            <p:cNvSpPr txBox="1"/>
            <p:nvPr/>
          </p:nvSpPr>
          <p:spPr>
            <a:xfrm>
              <a:off x="4633631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Past 5 Years</a:t>
              </a:r>
              <a:endParaRPr/>
            </a:p>
          </p:txBody>
        </p:sp>
        <p:sp>
          <p:nvSpPr>
            <p:cNvPr id="451" name="Google Shape;451;g3e04d4973f5_0_226"/>
            <p:cNvSpPr/>
            <p:nvPr/>
          </p:nvSpPr>
          <p:spPr>
            <a:xfrm>
              <a:off x="5648869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g3e04d4973f5_0_226"/>
            <p:cNvSpPr txBox="1"/>
            <p:nvPr/>
          </p:nvSpPr>
          <p:spPr>
            <a:xfrm>
              <a:off x="5676307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Past 10 Years</a:t>
              </a:r>
              <a:endParaRPr/>
            </a:p>
          </p:txBody>
        </p:sp>
        <p:sp>
          <p:nvSpPr>
            <p:cNvPr id="453" name="Google Shape;453;g3e04d4973f5_0_226"/>
            <p:cNvSpPr/>
            <p:nvPr/>
          </p:nvSpPr>
          <p:spPr>
            <a:xfrm>
              <a:off x="6691545" y="2389017"/>
              <a:ext cx="1042800" cy="420600"/>
            </a:xfrm>
            <a:prstGeom prst="rect">
              <a:avLst/>
            </a:prstGeom>
            <a:solidFill>
              <a:srgbClr val="2C4A7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g3e04d4973f5_0_226"/>
            <p:cNvSpPr txBox="1"/>
            <p:nvPr/>
          </p:nvSpPr>
          <p:spPr>
            <a:xfrm>
              <a:off x="6718984" y="2434737"/>
              <a:ext cx="9879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Past 20 Years</a:t>
              </a:r>
              <a:endParaRPr/>
            </a:p>
          </p:txBody>
        </p:sp>
        <p:sp>
          <p:nvSpPr>
            <p:cNvPr id="455" name="Google Shape;455;g3e04d4973f5_0_226"/>
            <p:cNvSpPr/>
            <p:nvPr/>
          </p:nvSpPr>
          <p:spPr>
            <a:xfrm>
              <a:off x="7734222" y="2389017"/>
              <a:ext cx="466500" cy="4206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e04d4973f5_0_226"/>
            <p:cNvSpPr txBox="1"/>
            <p:nvPr/>
          </p:nvSpPr>
          <p:spPr>
            <a:xfrm>
              <a:off x="7747942" y="2453025"/>
              <a:ext cx="4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Avg.</a:t>
              </a:r>
              <a:br>
                <a:rPr lang="en-US" sz="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Rank</a:t>
              </a:r>
              <a:endParaRPr/>
            </a:p>
          </p:txBody>
        </p:sp>
        <p:sp>
          <p:nvSpPr>
            <p:cNvPr id="457" name="Google Shape;457;g3e04d4973f5_0_226"/>
            <p:cNvSpPr/>
            <p:nvPr/>
          </p:nvSpPr>
          <p:spPr>
            <a:xfrm>
              <a:off x="8200683" y="2389017"/>
              <a:ext cx="466500" cy="4206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g3e04d4973f5_0_226"/>
            <p:cNvSpPr txBox="1"/>
            <p:nvPr/>
          </p:nvSpPr>
          <p:spPr>
            <a:xfrm>
              <a:off x="8228075" y="2529113"/>
              <a:ext cx="439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Overall</a:t>
              </a:r>
              <a:endParaRPr sz="1200"/>
            </a:p>
          </p:txBody>
        </p:sp>
        <p:sp>
          <p:nvSpPr>
            <p:cNvPr id="459" name="Google Shape;459;g3e04d4973f5_0_226"/>
            <p:cNvSpPr/>
            <p:nvPr/>
          </p:nvSpPr>
          <p:spPr>
            <a:xfrm>
              <a:off x="209114" y="2809641"/>
              <a:ext cx="12690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g3e04d4973f5_0_226"/>
            <p:cNvSpPr txBox="1"/>
            <p:nvPr/>
          </p:nvSpPr>
          <p:spPr>
            <a:xfrm>
              <a:off x="250272" y="2855361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Abs Threshold 5%</a:t>
              </a:r>
              <a:endParaRPr/>
            </a:p>
          </p:txBody>
        </p:sp>
        <p:sp>
          <p:nvSpPr>
            <p:cNvPr id="461" name="Google Shape;461;g3e04d4973f5_0_226"/>
            <p:cNvSpPr/>
            <p:nvPr/>
          </p:nvSpPr>
          <p:spPr>
            <a:xfrm>
              <a:off x="1478161" y="2809641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g3e04d4973f5_0_226"/>
            <p:cNvSpPr/>
            <p:nvPr/>
          </p:nvSpPr>
          <p:spPr>
            <a:xfrm>
              <a:off x="1478161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g3e04d4973f5_0_226"/>
            <p:cNvSpPr txBox="1"/>
            <p:nvPr/>
          </p:nvSpPr>
          <p:spPr>
            <a:xfrm>
              <a:off x="1512460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464" name="Google Shape;464;g3e04d4973f5_0_226"/>
            <p:cNvSpPr txBox="1"/>
            <p:nvPr/>
          </p:nvSpPr>
          <p:spPr>
            <a:xfrm>
              <a:off x="1512460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$6,432</a:t>
              </a:r>
              <a:endParaRPr/>
            </a:p>
          </p:txBody>
        </p:sp>
        <p:sp>
          <p:nvSpPr>
            <p:cNvPr id="465" name="Google Shape;465;g3e04d4973f5_0_226"/>
            <p:cNvSpPr/>
            <p:nvPr/>
          </p:nvSpPr>
          <p:spPr>
            <a:xfrm>
              <a:off x="2520838" y="2809641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g3e04d4973f5_0_226"/>
            <p:cNvSpPr/>
            <p:nvPr/>
          </p:nvSpPr>
          <p:spPr>
            <a:xfrm>
              <a:off x="2520838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g3e04d4973f5_0_226"/>
            <p:cNvSpPr txBox="1"/>
            <p:nvPr/>
          </p:nvSpPr>
          <p:spPr>
            <a:xfrm>
              <a:off x="2555137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468" name="Google Shape;468;g3e04d4973f5_0_226"/>
            <p:cNvSpPr txBox="1"/>
            <p:nvPr/>
          </p:nvSpPr>
          <p:spPr>
            <a:xfrm>
              <a:off x="2555137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($28,219)</a:t>
              </a:r>
              <a:endParaRPr/>
            </a:p>
          </p:txBody>
        </p:sp>
        <p:sp>
          <p:nvSpPr>
            <p:cNvPr id="469" name="Google Shape;469;g3e04d4973f5_0_226"/>
            <p:cNvSpPr/>
            <p:nvPr/>
          </p:nvSpPr>
          <p:spPr>
            <a:xfrm>
              <a:off x="3563515" y="2809641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g3e04d4973f5_0_226"/>
            <p:cNvSpPr/>
            <p:nvPr/>
          </p:nvSpPr>
          <p:spPr>
            <a:xfrm>
              <a:off x="3563515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g3e04d4973f5_0_226"/>
            <p:cNvSpPr txBox="1"/>
            <p:nvPr/>
          </p:nvSpPr>
          <p:spPr>
            <a:xfrm>
              <a:off x="3597813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72" name="Google Shape;472;g3e04d4973f5_0_226"/>
            <p:cNvSpPr txBox="1"/>
            <p:nvPr/>
          </p:nvSpPr>
          <p:spPr>
            <a:xfrm>
              <a:off x="3597813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$3,598</a:t>
              </a:r>
              <a:endParaRPr/>
            </a:p>
          </p:txBody>
        </p:sp>
        <p:sp>
          <p:nvSpPr>
            <p:cNvPr id="473" name="Google Shape;473;g3e04d4973f5_0_226"/>
            <p:cNvSpPr/>
            <p:nvPr/>
          </p:nvSpPr>
          <p:spPr>
            <a:xfrm>
              <a:off x="4606192" y="2809641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g3e04d4973f5_0_226"/>
            <p:cNvSpPr/>
            <p:nvPr/>
          </p:nvSpPr>
          <p:spPr>
            <a:xfrm>
              <a:off x="4606192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g3e04d4973f5_0_226"/>
            <p:cNvSpPr txBox="1"/>
            <p:nvPr/>
          </p:nvSpPr>
          <p:spPr>
            <a:xfrm>
              <a:off x="4640490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76" name="Google Shape;476;g3e04d4973f5_0_226"/>
            <p:cNvSpPr txBox="1"/>
            <p:nvPr/>
          </p:nvSpPr>
          <p:spPr>
            <a:xfrm>
              <a:off x="4640490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$8,968</a:t>
              </a:r>
              <a:endParaRPr/>
            </a:p>
          </p:txBody>
        </p:sp>
        <p:sp>
          <p:nvSpPr>
            <p:cNvPr id="477" name="Google Shape;477;g3e04d4973f5_0_226"/>
            <p:cNvSpPr/>
            <p:nvPr/>
          </p:nvSpPr>
          <p:spPr>
            <a:xfrm>
              <a:off x="5648869" y="2809641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g3e04d4973f5_0_226"/>
            <p:cNvSpPr/>
            <p:nvPr/>
          </p:nvSpPr>
          <p:spPr>
            <a:xfrm>
              <a:off x="5648869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g3e04d4973f5_0_226"/>
            <p:cNvSpPr txBox="1"/>
            <p:nvPr/>
          </p:nvSpPr>
          <p:spPr>
            <a:xfrm>
              <a:off x="5683167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80" name="Google Shape;480;g3e04d4973f5_0_226"/>
            <p:cNvSpPr txBox="1"/>
            <p:nvPr/>
          </p:nvSpPr>
          <p:spPr>
            <a:xfrm>
              <a:off x="5683167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$15,337</a:t>
              </a:r>
              <a:endParaRPr/>
            </a:p>
          </p:txBody>
        </p:sp>
        <p:sp>
          <p:nvSpPr>
            <p:cNvPr id="481" name="Google Shape;481;g3e04d4973f5_0_226"/>
            <p:cNvSpPr/>
            <p:nvPr/>
          </p:nvSpPr>
          <p:spPr>
            <a:xfrm>
              <a:off x="6691545" y="2809641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g3e04d4973f5_0_226"/>
            <p:cNvSpPr/>
            <p:nvPr/>
          </p:nvSpPr>
          <p:spPr>
            <a:xfrm>
              <a:off x="6691545" y="3230265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g3e04d4973f5_0_226"/>
            <p:cNvSpPr txBox="1"/>
            <p:nvPr/>
          </p:nvSpPr>
          <p:spPr>
            <a:xfrm>
              <a:off x="6725844" y="2827929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84" name="Google Shape;484;g3e04d4973f5_0_226"/>
            <p:cNvSpPr txBox="1"/>
            <p:nvPr/>
          </p:nvSpPr>
          <p:spPr>
            <a:xfrm>
              <a:off x="6725844" y="301995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$5,833</a:t>
              </a:r>
              <a:endParaRPr/>
            </a:p>
          </p:txBody>
        </p:sp>
        <p:sp>
          <p:nvSpPr>
            <p:cNvPr id="485" name="Google Shape;485;g3e04d4973f5_0_226"/>
            <p:cNvSpPr/>
            <p:nvPr/>
          </p:nvSpPr>
          <p:spPr>
            <a:xfrm>
              <a:off x="7734222" y="2809641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g3e04d4973f5_0_226"/>
            <p:cNvSpPr txBox="1"/>
            <p:nvPr/>
          </p:nvSpPr>
          <p:spPr>
            <a:xfrm>
              <a:off x="7747942" y="2882793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5.0</a:t>
              </a:r>
              <a:endParaRPr/>
            </a:p>
          </p:txBody>
        </p:sp>
        <p:sp>
          <p:nvSpPr>
            <p:cNvPr id="487" name="Google Shape;487;g3e04d4973f5_0_226"/>
            <p:cNvSpPr/>
            <p:nvPr/>
          </p:nvSpPr>
          <p:spPr>
            <a:xfrm>
              <a:off x="8200683" y="2809641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g3e04d4973f5_0_226"/>
            <p:cNvSpPr/>
            <p:nvPr/>
          </p:nvSpPr>
          <p:spPr>
            <a:xfrm>
              <a:off x="8303579" y="2896509"/>
              <a:ext cx="260700" cy="255900"/>
            </a:xfrm>
            <a:prstGeom prst="rect">
              <a:avLst/>
            </a:prstGeom>
            <a:solidFill>
              <a:srgbClr val="7890A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g3e04d4973f5_0_226"/>
            <p:cNvSpPr txBox="1"/>
            <p:nvPr/>
          </p:nvSpPr>
          <p:spPr>
            <a:xfrm>
              <a:off x="8214475" y="2914800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90" name="Google Shape;490;g3e04d4973f5_0_226"/>
            <p:cNvSpPr/>
            <p:nvPr/>
          </p:nvSpPr>
          <p:spPr>
            <a:xfrm>
              <a:off x="209114" y="3239409"/>
              <a:ext cx="12690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g3e04d4973f5_0_226"/>
            <p:cNvSpPr txBox="1"/>
            <p:nvPr/>
          </p:nvSpPr>
          <p:spPr>
            <a:xfrm>
              <a:off x="250272" y="3285128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Abs Threshold 10%</a:t>
              </a:r>
              <a:endParaRPr/>
            </a:p>
          </p:txBody>
        </p:sp>
        <p:sp>
          <p:nvSpPr>
            <p:cNvPr id="492" name="Google Shape;492;g3e04d4973f5_0_226"/>
            <p:cNvSpPr/>
            <p:nvPr/>
          </p:nvSpPr>
          <p:spPr>
            <a:xfrm>
              <a:off x="1478161" y="323940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g3e04d4973f5_0_226"/>
            <p:cNvSpPr/>
            <p:nvPr/>
          </p:nvSpPr>
          <p:spPr>
            <a:xfrm>
              <a:off x="1478161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g3e04d4973f5_0_226"/>
            <p:cNvSpPr txBox="1"/>
            <p:nvPr/>
          </p:nvSpPr>
          <p:spPr>
            <a:xfrm>
              <a:off x="1512460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495" name="Google Shape;495;g3e04d4973f5_0_226"/>
            <p:cNvSpPr txBox="1"/>
            <p:nvPr/>
          </p:nvSpPr>
          <p:spPr>
            <a:xfrm>
              <a:off x="1512460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$4,775</a:t>
              </a:r>
              <a:endParaRPr/>
            </a:p>
          </p:txBody>
        </p:sp>
        <p:sp>
          <p:nvSpPr>
            <p:cNvPr id="496" name="Google Shape;496;g3e04d4973f5_0_226"/>
            <p:cNvSpPr/>
            <p:nvPr/>
          </p:nvSpPr>
          <p:spPr>
            <a:xfrm>
              <a:off x="2520838" y="3239409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g3e04d4973f5_0_226"/>
            <p:cNvSpPr/>
            <p:nvPr/>
          </p:nvSpPr>
          <p:spPr>
            <a:xfrm>
              <a:off x="2520838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g3e04d4973f5_0_226"/>
            <p:cNvSpPr txBox="1"/>
            <p:nvPr/>
          </p:nvSpPr>
          <p:spPr>
            <a:xfrm>
              <a:off x="2555137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499" name="Google Shape;499;g3e04d4973f5_0_226"/>
            <p:cNvSpPr txBox="1"/>
            <p:nvPr/>
          </p:nvSpPr>
          <p:spPr>
            <a:xfrm>
              <a:off x="2555137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($12,291)</a:t>
              </a:r>
              <a:endParaRPr/>
            </a:p>
          </p:txBody>
        </p:sp>
        <p:sp>
          <p:nvSpPr>
            <p:cNvPr id="500" name="Google Shape;500;g3e04d4973f5_0_226"/>
            <p:cNvSpPr/>
            <p:nvPr/>
          </p:nvSpPr>
          <p:spPr>
            <a:xfrm>
              <a:off x="3563515" y="3239409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g3e04d4973f5_0_226"/>
            <p:cNvSpPr/>
            <p:nvPr/>
          </p:nvSpPr>
          <p:spPr>
            <a:xfrm>
              <a:off x="3563515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g3e04d4973f5_0_226"/>
            <p:cNvSpPr txBox="1"/>
            <p:nvPr/>
          </p:nvSpPr>
          <p:spPr>
            <a:xfrm>
              <a:off x="3597813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503" name="Google Shape;503;g3e04d4973f5_0_226"/>
            <p:cNvSpPr txBox="1"/>
            <p:nvPr/>
          </p:nvSpPr>
          <p:spPr>
            <a:xfrm>
              <a:off x="3597813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$4,505</a:t>
              </a:r>
              <a:endParaRPr/>
            </a:p>
          </p:txBody>
        </p:sp>
        <p:sp>
          <p:nvSpPr>
            <p:cNvPr id="504" name="Google Shape;504;g3e04d4973f5_0_226"/>
            <p:cNvSpPr/>
            <p:nvPr/>
          </p:nvSpPr>
          <p:spPr>
            <a:xfrm>
              <a:off x="4606192" y="3239409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g3e04d4973f5_0_226"/>
            <p:cNvSpPr/>
            <p:nvPr/>
          </p:nvSpPr>
          <p:spPr>
            <a:xfrm>
              <a:off x="4606192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g3e04d4973f5_0_226"/>
            <p:cNvSpPr txBox="1"/>
            <p:nvPr/>
          </p:nvSpPr>
          <p:spPr>
            <a:xfrm>
              <a:off x="4640490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507" name="Google Shape;507;g3e04d4973f5_0_226"/>
            <p:cNvSpPr txBox="1"/>
            <p:nvPr/>
          </p:nvSpPr>
          <p:spPr>
            <a:xfrm>
              <a:off x="4640490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$6,388</a:t>
              </a:r>
              <a:endParaRPr/>
            </a:p>
          </p:txBody>
        </p:sp>
        <p:sp>
          <p:nvSpPr>
            <p:cNvPr id="508" name="Google Shape;508;g3e04d4973f5_0_226"/>
            <p:cNvSpPr/>
            <p:nvPr/>
          </p:nvSpPr>
          <p:spPr>
            <a:xfrm>
              <a:off x="5648869" y="3239409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g3e04d4973f5_0_226"/>
            <p:cNvSpPr/>
            <p:nvPr/>
          </p:nvSpPr>
          <p:spPr>
            <a:xfrm>
              <a:off x="5648869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g3e04d4973f5_0_226"/>
            <p:cNvSpPr txBox="1"/>
            <p:nvPr/>
          </p:nvSpPr>
          <p:spPr>
            <a:xfrm>
              <a:off x="5683167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511" name="Google Shape;511;g3e04d4973f5_0_226"/>
            <p:cNvSpPr txBox="1"/>
            <p:nvPr/>
          </p:nvSpPr>
          <p:spPr>
            <a:xfrm>
              <a:off x="5683167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$6,608</a:t>
              </a:r>
              <a:endParaRPr/>
            </a:p>
          </p:txBody>
        </p:sp>
        <p:sp>
          <p:nvSpPr>
            <p:cNvPr id="512" name="Google Shape;512;g3e04d4973f5_0_226"/>
            <p:cNvSpPr/>
            <p:nvPr/>
          </p:nvSpPr>
          <p:spPr>
            <a:xfrm>
              <a:off x="6691545" y="3239409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g3e04d4973f5_0_226"/>
            <p:cNvSpPr/>
            <p:nvPr/>
          </p:nvSpPr>
          <p:spPr>
            <a:xfrm>
              <a:off x="6691545" y="366003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e04d4973f5_0_226"/>
            <p:cNvSpPr txBox="1"/>
            <p:nvPr/>
          </p:nvSpPr>
          <p:spPr>
            <a:xfrm>
              <a:off x="6725844" y="3257697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15" name="Google Shape;515;g3e04d4973f5_0_226"/>
            <p:cNvSpPr txBox="1"/>
            <p:nvPr/>
          </p:nvSpPr>
          <p:spPr>
            <a:xfrm>
              <a:off x="6725844" y="344972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($88,459)</a:t>
              </a:r>
              <a:endParaRPr/>
            </a:p>
          </p:txBody>
        </p:sp>
        <p:sp>
          <p:nvSpPr>
            <p:cNvPr id="516" name="Google Shape;516;g3e04d4973f5_0_226"/>
            <p:cNvSpPr/>
            <p:nvPr/>
          </p:nvSpPr>
          <p:spPr>
            <a:xfrm>
              <a:off x="7734222" y="3239409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g3e04d4973f5_0_226"/>
            <p:cNvSpPr txBox="1"/>
            <p:nvPr/>
          </p:nvSpPr>
          <p:spPr>
            <a:xfrm>
              <a:off x="7747942" y="3312561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5.5</a:t>
              </a:r>
              <a:endParaRPr/>
            </a:p>
          </p:txBody>
        </p:sp>
        <p:sp>
          <p:nvSpPr>
            <p:cNvPr id="518" name="Google Shape;518;g3e04d4973f5_0_226"/>
            <p:cNvSpPr/>
            <p:nvPr/>
          </p:nvSpPr>
          <p:spPr>
            <a:xfrm>
              <a:off x="8200683" y="3239409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g3e04d4973f5_0_226"/>
            <p:cNvSpPr/>
            <p:nvPr/>
          </p:nvSpPr>
          <p:spPr>
            <a:xfrm>
              <a:off x="8303579" y="3326277"/>
              <a:ext cx="260700" cy="255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g3e04d4973f5_0_226"/>
            <p:cNvSpPr txBox="1"/>
            <p:nvPr/>
          </p:nvSpPr>
          <p:spPr>
            <a:xfrm>
              <a:off x="8214475" y="3344568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521" name="Google Shape;521;g3e04d4973f5_0_226"/>
            <p:cNvSpPr/>
            <p:nvPr/>
          </p:nvSpPr>
          <p:spPr>
            <a:xfrm>
              <a:off x="209114" y="3669177"/>
              <a:ext cx="12690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g3e04d4973f5_0_226"/>
            <p:cNvSpPr txBox="1"/>
            <p:nvPr/>
          </p:nvSpPr>
          <p:spPr>
            <a:xfrm>
              <a:off x="250272" y="3714897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Abs Threshold 20%</a:t>
              </a:r>
              <a:endParaRPr/>
            </a:p>
          </p:txBody>
        </p:sp>
        <p:sp>
          <p:nvSpPr>
            <p:cNvPr id="523" name="Google Shape;523;g3e04d4973f5_0_226"/>
            <p:cNvSpPr/>
            <p:nvPr/>
          </p:nvSpPr>
          <p:spPr>
            <a:xfrm>
              <a:off x="1478161" y="3669177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g3e04d4973f5_0_226"/>
            <p:cNvSpPr/>
            <p:nvPr/>
          </p:nvSpPr>
          <p:spPr>
            <a:xfrm>
              <a:off x="1478161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3e04d4973f5_0_226"/>
            <p:cNvSpPr txBox="1"/>
            <p:nvPr/>
          </p:nvSpPr>
          <p:spPr>
            <a:xfrm>
              <a:off x="1512460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526" name="Google Shape;526;g3e04d4973f5_0_226"/>
            <p:cNvSpPr txBox="1"/>
            <p:nvPr/>
          </p:nvSpPr>
          <p:spPr>
            <a:xfrm>
              <a:off x="1512460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$3,153</a:t>
              </a:r>
              <a:endParaRPr/>
            </a:p>
          </p:txBody>
        </p:sp>
        <p:sp>
          <p:nvSpPr>
            <p:cNvPr id="527" name="Google Shape;527;g3e04d4973f5_0_226"/>
            <p:cNvSpPr/>
            <p:nvPr/>
          </p:nvSpPr>
          <p:spPr>
            <a:xfrm>
              <a:off x="2520838" y="3669177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g3e04d4973f5_0_226"/>
            <p:cNvSpPr/>
            <p:nvPr/>
          </p:nvSpPr>
          <p:spPr>
            <a:xfrm>
              <a:off x="2520838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g3e04d4973f5_0_226"/>
            <p:cNvSpPr txBox="1"/>
            <p:nvPr/>
          </p:nvSpPr>
          <p:spPr>
            <a:xfrm>
              <a:off x="2555137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530" name="Google Shape;530;g3e04d4973f5_0_226"/>
            <p:cNvSpPr txBox="1"/>
            <p:nvPr/>
          </p:nvSpPr>
          <p:spPr>
            <a:xfrm>
              <a:off x="2555137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($11,066)</a:t>
              </a:r>
              <a:endParaRPr/>
            </a:p>
          </p:txBody>
        </p:sp>
        <p:sp>
          <p:nvSpPr>
            <p:cNvPr id="531" name="Google Shape;531;g3e04d4973f5_0_226"/>
            <p:cNvSpPr/>
            <p:nvPr/>
          </p:nvSpPr>
          <p:spPr>
            <a:xfrm>
              <a:off x="3563515" y="366917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g3e04d4973f5_0_226"/>
            <p:cNvSpPr/>
            <p:nvPr/>
          </p:nvSpPr>
          <p:spPr>
            <a:xfrm>
              <a:off x="3563515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3e04d4973f5_0_226"/>
            <p:cNvSpPr txBox="1"/>
            <p:nvPr/>
          </p:nvSpPr>
          <p:spPr>
            <a:xfrm>
              <a:off x="3597813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34" name="Google Shape;534;g3e04d4973f5_0_226"/>
            <p:cNvSpPr txBox="1"/>
            <p:nvPr/>
          </p:nvSpPr>
          <p:spPr>
            <a:xfrm>
              <a:off x="3597813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$2,456</a:t>
              </a:r>
              <a:endParaRPr/>
            </a:p>
          </p:txBody>
        </p:sp>
        <p:sp>
          <p:nvSpPr>
            <p:cNvPr id="535" name="Google Shape;535;g3e04d4973f5_0_226"/>
            <p:cNvSpPr/>
            <p:nvPr/>
          </p:nvSpPr>
          <p:spPr>
            <a:xfrm>
              <a:off x="4606192" y="366917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g3e04d4973f5_0_226"/>
            <p:cNvSpPr/>
            <p:nvPr/>
          </p:nvSpPr>
          <p:spPr>
            <a:xfrm>
              <a:off x="4606192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g3e04d4973f5_0_226"/>
            <p:cNvSpPr txBox="1"/>
            <p:nvPr/>
          </p:nvSpPr>
          <p:spPr>
            <a:xfrm>
              <a:off x="4640490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38" name="Google Shape;538;g3e04d4973f5_0_226"/>
            <p:cNvSpPr txBox="1"/>
            <p:nvPr/>
          </p:nvSpPr>
          <p:spPr>
            <a:xfrm>
              <a:off x="4640490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$5,969</a:t>
              </a:r>
              <a:endParaRPr/>
            </a:p>
          </p:txBody>
        </p:sp>
        <p:sp>
          <p:nvSpPr>
            <p:cNvPr id="539" name="Google Shape;539;g3e04d4973f5_0_226"/>
            <p:cNvSpPr/>
            <p:nvPr/>
          </p:nvSpPr>
          <p:spPr>
            <a:xfrm>
              <a:off x="5648869" y="366917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g3e04d4973f5_0_226"/>
            <p:cNvSpPr/>
            <p:nvPr/>
          </p:nvSpPr>
          <p:spPr>
            <a:xfrm>
              <a:off x="5648869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g3e04d4973f5_0_226"/>
            <p:cNvSpPr txBox="1"/>
            <p:nvPr/>
          </p:nvSpPr>
          <p:spPr>
            <a:xfrm>
              <a:off x="5683167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42" name="Google Shape;542;g3e04d4973f5_0_226"/>
            <p:cNvSpPr txBox="1"/>
            <p:nvPr/>
          </p:nvSpPr>
          <p:spPr>
            <a:xfrm>
              <a:off x="5683167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($5,357)</a:t>
              </a:r>
              <a:endParaRPr/>
            </a:p>
          </p:txBody>
        </p:sp>
        <p:sp>
          <p:nvSpPr>
            <p:cNvPr id="543" name="Google Shape;543;g3e04d4973f5_0_226"/>
            <p:cNvSpPr/>
            <p:nvPr/>
          </p:nvSpPr>
          <p:spPr>
            <a:xfrm>
              <a:off x="6691545" y="366917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g3e04d4973f5_0_226"/>
            <p:cNvSpPr/>
            <p:nvPr/>
          </p:nvSpPr>
          <p:spPr>
            <a:xfrm>
              <a:off x="6691545" y="408980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g3e04d4973f5_0_226"/>
            <p:cNvSpPr txBox="1"/>
            <p:nvPr/>
          </p:nvSpPr>
          <p:spPr>
            <a:xfrm>
              <a:off x="6725844" y="3687465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546" name="Google Shape;546;g3e04d4973f5_0_226"/>
            <p:cNvSpPr txBox="1"/>
            <p:nvPr/>
          </p:nvSpPr>
          <p:spPr>
            <a:xfrm>
              <a:off x="6725844" y="387948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($84,820)</a:t>
              </a:r>
              <a:endParaRPr/>
            </a:p>
          </p:txBody>
        </p:sp>
        <p:sp>
          <p:nvSpPr>
            <p:cNvPr id="547" name="Google Shape;547;g3e04d4973f5_0_226"/>
            <p:cNvSpPr/>
            <p:nvPr/>
          </p:nvSpPr>
          <p:spPr>
            <a:xfrm>
              <a:off x="7734222" y="3669177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g3e04d4973f5_0_226"/>
            <p:cNvSpPr txBox="1"/>
            <p:nvPr/>
          </p:nvSpPr>
          <p:spPr>
            <a:xfrm>
              <a:off x="7747942" y="3742329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6.7</a:t>
              </a:r>
              <a:endParaRPr/>
            </a:p>
          </p:txBody>
        </p:sp>
        <p:sp>
          <p:nvSpPr>
            <p:cNvPr id="549" name="Google Shape;549;g3e04d4973f5_0_226"/>
            <p:cNvSpPr/>
            <p:nvPr/>
          </p:nvSpPr>
          <p:spPr>
            <a:xfrm>
              <a:off x="8200683" y="3669177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g3e04d4973f5_0_226"/>
            <p:cNvSpPr/>
            <p:nvPr/>
          </p:nvSpPr>
          <p:spPr>
            <a:xfrm>
              <a:off x="8303579" y="3756045"/>
              <a:ext cx="260700" cy="255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g3e04d4973f5_0_226"/>
            <p:cNvSpPr txBox="1"/>
            <p:nvPr/>
          </p:nvSpPr>
          <p:spPr>
            <a:xfrm>
              <a:off x="8214475" y="3774336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52" name="Google Shape;552;g3e04d4973f5_0_226"/>
            <p:cNvSpPr/>
            <p:nvPr/>
          </p:nvSpPr>
          <p:spPr>
            <a:xfrm>
              <a:off x="209114" y="4098945"/>
              <a:ext cx="12690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g3e04d4973f5_0_226"/>
            <p:cNvSpPr txBox="1"/>
            <p:nvPr/>
          </p:nvSpPr>
          <p:spPr>
            <a:xfrm>
              <a:off x="250272" y="4144664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Monthly Rebal</a:t>
              </a:r>
              <a:endParaRPr/>
            </a:p>
          </p:txBody>
        </p:sp>
        <p:sp>
          <p:nvSpPr>
            <p:cNvPr id="554" name="Google Shape;554;g3e04d4973f5_0_226"/>
            <p:cNvSpPr/>
            <p:nvPr/>
          </p:nvSpPr>
          <p:spPr>
            <a:xfrm>
              <a:off x="1478161" y="4098945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g3e04d4973f5_0_226"/>
            <p:cNvSpPr/>
            <p:nvPr/>
          </p:nvSpPr>
          <p:spPr>
            <a:xfrm>
              <a:off x="1478161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g3e04d4973f5_0_226"/>
            <p:cNvSpPr txBox="1"/>
            <p:nvPr/>
          </p:nvSpPr>
          <p:spPr>
            <a:xfrm>
              <a:off x="1512460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557" name="Google Shape;557;g3e04d4973f5_0_226"/>
            <p:cNvSpPr txBox="1"/>
            <p:nvPr/>
          </p:nvSpPr>
          <p:spPr>
            <a:xfrm>
              <a:off x="1512460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($861)</a:t>
              </a:r>
              <a:endParaRPr/>
            </a:p>
          </p:txBody>
        </p:sp>
        <p:sp>
          <p:nvSpPr>
            <p:cNvPr id="558" name="Google Shape;558;g3e04d4973f5_0_226"/>
            <p:cNvSpPr/>
            <p:nvPr/>
          </p:nvSpPr>
          <p:spPr>
            <a:xfrm>
              <a:off x="2520838" y="4098945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g3e04d4973f5_0_226"/>
            <p:cNvSpPr/>
            <p:nvPr/>
          </p:nvSpPr>
          <p:spPr>
            <a:xfrm>
              <a:off x="2520838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g3e04d4973f5_0_226"/>
            <p:cNvSpPr txBox="1"/>
            <p:nvPr/>
          </p:nvSpPr>
          <p:spPr>
            <a:xfrm>
              <a:off x="2555137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561" name="Google Shape;561;g3e04d4973f5_0_226"/>
            <p:cNvSpPr txBox="1"/>
            <p:nvPr/>
          </p:nvSpPr>
          <p:spPr>
            <a:xfrm>
              <a:off x="2555137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($881)</a:t>
              </a:r>
              <a:endParaRPr/>
            </a:p>
          </p:txBody>
        </p:sp>
        <p:sp>
          <p:nvSpPr>
            <p:cNvPr id="562" name="Google Shape;562;g3e04d4973f5_0_226"/>
            <p:cNvSpPr/>
            <p:nvPr/>
          </p:nvSpPr>
          <p:spPr>
            <a:xfrm>
              <a:off x="3563515" y="4098945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g3e04d4973f5_0_226"/>
            <p:cNvSpPr/>
            <p:nvPr/>
          </p:nvSpPr>
          <p:spPr>
            <a:xfrm>
              <a:off x="3563515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g3e04d4973f5_0_226"/>
            <p:cNvSpPr txBox="1"/>
            <p:nvPr/>
          </p:nvSpPr>
          <p:spPr>
            <a:xfrm>
              <a:off x="3597813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565" name="Google Shape;565;g3e04d4973f5_0_226"/>
            <p:cNvSpPr txBox="1"/>
            <p:nvPr/>
          </p:nvSpPr>
          <p:spPr>
            <a:xfrm>
              <a:off x="3597813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$3,505</a:t>
              </a:r>
              <a:endParaRPr/>
            </a:p>
          </p:txBody>
        </p:sp>
        <p:sp>
          <p:nvSpPr>
            <p:cNvPr id="566" name="Google Shape;566;g3e04d4973f5_0_226"/>
            <p:cNvSpPr/>
            <p:nvPr/>
          </p:nvSpPr>
          <p:spPr>
            <a:xfrm>
              <a:off x="4606192" y="4098945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g3e04d4973f5_0_226"/>
            <p:cNvSpPr/>
            <p:nvPr/>
          </p:nvSpPr>
          <p:spPr>
            <a:xfrm>
              <a:off x="4606192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g3e04d4973f5_0_226"/>
            <p:cNvSpPr txBox="1"/>
            <p:nvPr/>
          </p:nvSpPr>
          <p:spPr>
            <a:xfrm>
              <a:off x="4640490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569" name="Google Shape;569;g3e04d4973f5_0_226"/>
            <p:cNvSpPr txBox="1"/>
            <p:nvPr/>
          </p:nvSpPr>
          <p:spPr>
            <a:xfrm>
              <a:off x="4640490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$21,323</a:t>
              </a:r>
              <a:endParaRPr/>
            </a:p>
          </p:txBody>
        </p:sp>
        <p:sp>
          <p:nvSpPr>
            <p:cNvPr id="570" name="Google Shape;570;g3e04d4973f5_0_226"/>
            <p:cNvSpPr/>
            <p:nvPr/>
          </p:nvSpPr>
          <p:spPr>
            <a:xfrm>
              <a:off x="5648869" y="4098945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g3e04d4973f5_0_226"/>
            <p:cNvSpPr/>
            <p:nvPr/>
          </p:nvSpPr>
          <p:spPr>
            <a:xfrm>
              <a:off x="5648869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g3e04d4973f5_0_226"/>
            <p:cNvSpPr txBox="1"/>
            <p:nvPr/>
          </p:nvSpPr>
          <p:spPr>
            <a:xfrm>
              <a:off x="5683167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573" name="Google Shape;573;g3e04d4973f5_0_226"/>
            <p:cNvSpPr txBox="1"/>
            <p:nvPr/>
          </p:nvSpPr>
          <p:spPr>
            <a:xfrm>
              <a:off x="5683167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$17,217</a:t>
              </a:r>
              <a:endParaRPr/>
            </a:p>
          </p:txBody>
        </p:sp>
        <p:sp>
          <p:nvSpPr>
            <p:cNvPr id="574" name="Google Shape;574;g3e04d4973f5_0_226"/>
            <p:cNvSpPr/>
            <p:nvPr/>
          </p:nvSpPr>
          <p:spPr>
            <a:xfrm>
              <a:off x="6691545" y="4098945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g3e04d4973f5_0_226"/>
            <p:cNvSpPr/>
            <p:nvPr/>
          </p:nvSpPr>
          <p:spPr>
            <a:xfrm>
              <a:off x="6691545" y="4519569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g3e04d4973f5_0_226"/>
            <p:cNvSpPr txBox="1"/>
            <p:nvPr/>
          </p:nvSpPr>
          <p:spPr>
            <a:xfrm>
              <a:off x="6725844" y="4117233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577" name="Google Shape;577;g3e04d4973f5_0_226"/>
            <p:cNvSpPr txBox="1"/>
            <p:nvPr/>
          </p:nvSpPr>
          <p:spPr>
            <a:xfrm>
              <a:off x="6725844" y="4309257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$169,455</a:t>
              </a:r>
              <a:endParaRPr/>
            </a:p>
          </p:txBody>
        </p:sp>
        <p:sp>
          <p:nvSpPr>
            <p:cNvPr id="578" name="Google Shape;578;g3e04d4973f5_0_226"/>
            <p:cNvSpPr/>
            <p:nvPr/>
          </p:nvSpPr>
          <p:spPr>
            <a:xfrm>
              <a:off x="7734222" y="4098945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g3e04d4973f5_0_226"/>
            <p:cNvSpPr txBox="1"/>
            <p:nvPr/>
          </p:nvSpPr>
          <p:spPr>
            <a:xfrm>
              <a:off x="7747942" y="4172097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3.5</a:t>
              </a:r>
              <a:endParaRPr/>
            </a:p>
          </p:txBody>
        </p:sp>
        <p:sp>
          <p:nvSpPr>
            <p:cNvPr id="580" name="Google Shape;580;g3e04d4973f5_0_226"/>
            <p:cNvSpPr/>
            <p:nvPr/>
          </p:nvSpPr>
          <p:spPr>
            <a:xfrm>
              <a:off x="8200683" y="4098945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g3e04d4973f5_0_226"/>
            <p:cNvSpPr/>
            <p:nvPr/>
          </p:nvSpPr>
          <p:spPr>
            <a:xfrm>
              <a:off x="8303579" y="4185812"/>
              <a:ext cx="260700" cy="255900"/>
            </a:xfrm>
            <a:prstGeom prst="rect">
              <a:avLst/>
            </a:prstGeom>
            <a:solidFill>
              <a:srgbClr val="7890A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g3e04d4973f5_0_226"/>
            <p:cNvSpPr txBox="1"/>
            <p:nvPr/>
          </p:nvSpPr>
          <p:spPr>
            <a:xfrm>
              <a:off x="8214475" y="4204103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583" name="Google Shape;583;g3e04d4973f5_0_226"/>
            <p:cNvSpPr/>
            <p:nvPr/>
          </p:nvSpPr>
          <p:spPr>
            <a:xfrm>
              <a:off x="209114" y="4528712"/>
              <a:ext cx="12690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g3e04d4973f5_0_226"/>
            <p:cNvSpPr txBox="1"/>
            <p:nvPr/>
          </p:nvSpPr>
          <p:spPr>
            <a:xfrm>
              <a:off x="250272" y="4574432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Quarterly Rebal</a:t>
              </a:r>
              <a:endParaRPr/>
            </a:p>
          </p:txBody>
        </p:sp>
        <p:sp>
          <p:nvSpPr>
            <p:cNvPr id="585" name="Google Shape;585;g3e04d4973f5_0_226"/>
            <p:cNvSpPr/>
            <p:nvPr/>
          </p:nvSpPr>
          <p:spPr>
            <a:xfrm>
              <a:off x="1478161" y="4528712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g3e04d4973f5_0_226"/>
            <p:cNvSpPr/>
            <p:nvPr/>
          </p:nvSpPr>
          <p:spPr>
            <a:xfrm>
              <a:off x="1478161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g3e04d4973f5_0_226"/>
            <p:cNvSpPr txBox="1"/>
            <p:nvPr/>
          </p:nvSpPr>
          <p:spPr>
            <a:xfrm>
              <a:off x="1512460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#8</a:t>
              </a:r>
              <a:endParaRPr/>
            </a:p>
          </p:txBody>
        </p:sp>
        <p:sp>
          <p:nvSpPr>
            <p:cNvPr id="588" name="Google Shape;588;g3e04d4973f5_0_226"/>
            <p:cNvSpPr txBox="1"/>
            <p:nvPr/>
          </p:nvSpPr>
          <p:spPr>
            <a:xfrm>
              <a:off x="1512460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($884)</a:t>
              </a:r>
              <a:endParaRPr/>
            </a:p>
          </p:txBody>
        </p:sp>
        <p:sp>
          <p:nvSpPr>
            <p:cNvPr id="589" name="Google Shape;589;g3e04d4973f5_0_226"/>
            <p:cNvSpPr/>
            <p:nvPr/>
          </p:nvSpPr>
          <p:spPr>
            <a:xfrm>
              <a:off x="2520838" y="4528712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g3e04d4973f5_0_226"/>
            <p:cNvSpPr/>
            <p:nvPr/>
          </p:nvSpPr>
          <p:spPr>
            <a:xfrm>
              <a:off x="2520838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g3e04d4973f5_0_226"/>
            <p:cNvSpPr txBox="1"/>
            <p:nvPr/>
          </p:nvSpPr>
          <p:spPr>
            <a:xfrm>
              <a:off x="2555137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592" name="Google Shape;592;g3e04d4973f5_0_226"/>
            <p:cNvSpPr txBox="1"/>
            <p:nvPr/>
          </p:nvSpPr>
          <p:spPr>
            <a:xfrm>
              <a:off x="2555137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$4,957</a:t>
              </a:r>
              <a:endParaRPr/>
            </a:p>
          </p:txBody>
        </p:sp>
        <p:sp>
          <p:nvSpPr>
            <p:cNvPr id="593" name="Google Shape;593;g3e04d4973f5_0_226"/>
            <p:cNvSpPr/>
            <p:nvPr/>
          </p:nvSpPr>
          <p:spPr>
            <a:xfrm>
              <a:off x="3563515" y="4528712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g3e04d4973f5_0_226"/>
            <p:cNvSpPr/>
            <p:nvPr/>
          </p:nvSpPr>
          <p:spPr>
            <a:xfrm>
              <a:off x="3563515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g3e04d4973f5_0_226"/>
            <p:cNvSpPr txBox="1"/>
            <p:nvPr/>
          </p:nvSpPr>
          <p:spPr>
            <a:xfrm>
              <a:off x="3597813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596" name="Google Shape;596;g3e04d4973f5_0_226"/>
            <p:cNvSpPr txBox="1"/>
            <p:nvPr/>
          </p:nvSpPr>
          <p:spPr>
            <a:xfrm>
              <a:off x="3597813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$4,675</a:t>
              </a:r>
              <a:endParaRPr/>
            </a:p>
          </p:txBody>
        </p:sp>
        <p:sp>
          <p:nvSpPr>
            <p:cNvPr id="597" name="Google Shape;597;g3e04d4973f5_0_226"/>
            <p:cNvSpPr/>
            <p:nvPr/>
          </p:nvSpPr>
          <p:spPr>
            <a:xfrm>
              <a:off x="4606192" y="4528712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g3e04d4973f5_0_226"/>
            <p:cNvSpPr/>
            <p:nvPr/>
          </p:nvSpPr>
          <p:spPr>
            <a:xfrm>
              <a:off x="4606192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g3e04d4973f5_0_226"/>
            <p:cNvSpPr txBox="1"/>
            <p:nvPr/>
          </p:nvSpPr>
          <p:spPr>
            <a:xfrm>
              <a:off x="4640490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00" name="Google Shape;600;g3e04d4973f5_0_226"/>
            <p:cNvSpPr txBox="1"/>
            <p:nvPr/>
          </p:nvSpPr>
          <p:spPr>
            <a:xfrm>
              <a:off x="4640490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$16,228</a:t>
              </a:r>
              <a:endParaRPr/>
            </a:p>
          </p:txBody>
        </p:sp>
        <p:sp>
          <p:nvSpPr>
            <p:cNvPr id="601" name="Google Shape;601;g3e04d4973f5_0_226"/>
            <p:cNvSpPr/>
            <p:nvPr/>
          </p:nvSpPr>
          <p:spPr>
            <a:xfrm>
              <a:off x="5648869" y="4528712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g3e04d4973f5_0_226"/>
            <p:cNvSpPr/>
            <p:nvPr/>
          </p:nvSpPr>
          <p:spPr>
            <a:xfrm>
              <a:off x="5648869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g3e04d4973f5_0_226"/>
            <p:cNvSpPr txBox="1"/>
            <p:nvPr/>
          </p:nvSpPr>
          <p:spPr>
            <a:xfrm>
              <a:off x="5683167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604" name="Google Shape;604;g3e04d4973f5_0_226"/>
            <p:cNvSpPr txBox="1"/>
            <p:nvPr/>
          </p:nvSpPr>
          <p:spPr>
            <a:xfrm>
              <a:off x="5683167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$33,924</a:t>
              </a:r>
              <a:endParaRPr/>
            </a:p>
          </p:txBody>
        </p:sp>
        <p:sp>
          <p:nvSpPr>
            <p:cNvPr id="605" name="Google Shape;605;g3e04d4973f5_0_226"/>
            <p:cNvSpPr/>
            <p:nvPr/>
          </p:nvSpPr>
          <p:spPr>
            <a:xfrm>
              <a:off x="6691545" y="4528712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g3e04d4973f5_0_226"/>
            <p:cNvSpPr/>
            <p:nvPr/>
          </p:nvSpPr>
          <p:spPr>
            <a:xfrm>
              <a:off x="6691545" y="4949336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g3e04d4973f5_0_226"/>
            <p:cNvSpPr txBox="1"/>
            <p:nvPr/>
          </p:nvSpPr>
          <p:spPr>
            <a:xfrm>
              <a:off x="6725844" y="4547000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08" name="Google Shape;608;g3e04d4973f5_0_226"/>
            <p:cNvSpPr txBox="1"/>
            <p:nvPr/>
          </p:nvSpPr>
          <p:spPr>
            <a:xfrm>
              <a:off x="6725844" y="4739024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$15,661</a:t>
              </a:r>
              <a:endParaRPr/>
            </a:p>
          </p:txBody>
        </p:sp>
        <p:sp>
          <p:nvSpPr>
            <p:cNvPr id="609" name="Google Shape;609;g3e04d4973f5_0_226"/>
            <p:cNvSpPr/>
            <p:nvPr/>
          </p:nvSpPr>
          <p:spPr>
            <a:xfrm>
              <a:off x="7734222" y="4528712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g3e04d4973f5_0_226"/>
            <p:cNvSpPr txBox="1"/>
            <p:nvPr/>
          </p:nvSpPr>
          <p:spPr>
            <a:xfrm>
              <a:off x="7747942" y="4601864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3.0</a:t>
              </a:r>
              <a:endParaRPr/>
            </a:p>
          </p:txBody>
        </p:sp>
        <p:sp>
          <p:nvSpPr>
            <p:cNvPr id="611" name="Google Shape;611;g3e04d4973f5_0_226"/>
            <p:cNvSpPr/>
            <p:nvPr/>
          </p:nvSpPr>
          <p:spPr>
            <a:xfrm>
              <a:off x="8200683" y="4528712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g3e04d4973f5_0_226"/>
            <p:cNvSpPr/>
            <p:nvPr/>
          </p:nvSpPr>
          <p:spPr>
            <a:xfrm>
              <a:off x="8303579" y="4615580"/>
              <a:ext cx="260700" cy="255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g3e04d4973f5_0_226"/>
            <p:cNvSpPr txBox="1"/>
            <p:nvPr/>
          </p:nvSpPr>
          <p:spPr>
            <a:xfrm>
              <a:off x="8214475" y="4633871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614" name="Google Shape;614;g3e04d4973f5_0_226"/>
            <p:cNvSpPr/>
            <p:nvPr/>
          </p:nvSpPr>
          <p:spPr>
            <a:xfrm>
              <a:off x="209114" y="4958480"/>
              <a:ext cx="12690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g3e04d4973f5_0_226"/>
            <p:cNvSpPr txBox="1"/>
            <p:nvPr/>
          </p:nvSpPr>
          <p:spPr>
            <a:xfrm>
              <a:off x="250272" y="5004200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Yearly Rebal</a:t>
              </a:r>
              <a:endParaRPr/>
            </a:p>
          </p:txBody>
        </p:sp>
        <p:sp>
          <p:nvSpPr>
            <p:cNvPr id="616" name="Google Shape;616;g3e04d4973f5_0_226"/>
            <p:cNvSpPr/>
            <p:nvPr/>
          </p:nvSpPr>
          <p:spPr>
            <a:xfrm>
              <a:off x="1478161" y="4958480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g3e04d4973f5_0_226"/>
            <p:cNvSpPr/>
            <p:nvPr/>
          </p:nvSpPr>
          <p:spPr>
            <a:xfrm>
              <a:off x="1478161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g3e04d4973f5_0_226"/>
            <p:cNvSpPr txBox="1"/>
            <p:nvPr/>
          </p:nvSpPr>
          <p:spPr>
            <a:xfrm>
              <a:off x="1512460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19" name="Google Shape;619;g3e04d4973f5_0_226"/>
            <p:cNvSpPr txBox="1"/>
            <p:nvPr/>
          </p:nvSpPr>
          <p:spPr>
            <a:xfrm>
              <a:off x="1512460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$5,144</a:t>
              </a:r>
              <a:endParaRPr/>
            </a:p>
          </p:txBody>
        </p:sp>
        <p:sp>
          <p:nvSpPr>
            <p:cNvPr id="620" name="Google Shape;620;g3e04d4973f5_0_226"/>
            <p:cNvSpPr/>
            <p:nvPr/>
          </p:nvSpPr>
          <p:spPr>
            <a:xfrm>
              <a:off x="2520838" y="4958480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g3e04d4973f5_0_226"/>
            <p:cNvSpPr/>
            <p:nvPr/>
          </p:nvSpPr>
          <p:spPr>
            <a:xfrm>
              <a:off x="2520838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g3e04d4973f5_0_226"/>
            <p:cNvSpPr txBox="1"/>
            <p:nvPr/>
          </p:nvSpPr>
          <p:spPr>
            <a:xfrm>
              <a:off x="2555137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623" name="Google Shape;623;g3e04d4973f5_0_226"/>
            <p:cNvSpPr txBox="1"/>
            <p:nvPr/>
          </p:nvSpPr>
          <p:spPr>
            <a:xfrm>
              <a:off x="2555137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($12,716)</a:t>
              </a:r>
              <a:endParaRPr/>
            </a:p>
          </p:txBody>
        </p:sp>
        <p:sp>
          <p:nvSpPr>
            <p:cNvPr id="624" name="Google Shape;624;g3e04d4973f5_0_226"/>
            <p:cNvSpPr/>
            <p:nvPr/>
          </p:nvSpPr>
          <p:spPr>
            <a:xfrm>
              <a:off x="3563515" y="4958480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g3e04d4973f5_0_226"/>
            <p:cNvSpPr/>
            <p:nvPr/>
          </p:nvSpPr>
          <p:spPr>
            <a:xfrm>
              <a:off x="3563515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g3e04d4973f5_0_226"/>
            <p:cNvSpPr txBox="1"/>
            <p:nvPr/>
          </p:nvSpPr>
          <p:spPr>
            <a:xfrm>
              <a:off x="3597813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627" name="Google Shape;627;g3e04d4973f5_0_226"/>
            <p:cNvSpPr txBox="1"/>
            <p:nvPr/>
          </p:nvSpPr>
          <p:spPr>
            <a:xfrm>
              <a:off x="3597813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$3,770</a:t>
              </a:r>
              <a:endParaRPr/>
            </a:p>
          </p:txBody>
        </p:sp>
        <p:sp>
          <p:nvSpPr>
            <p:cNvPr id="628" name="Google Shape;628;g3e04d4973f5_0_226"/>
            <p:cNvSpPr/>
            <p:nvPr/>
          </p:nvSpPr>
          <p:spPr>
            <a:xfrm>
              <a:off x="4606192" y="4958480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g3e04d4973f5_0_226"/>
            <p:cNvSpPr/>
            <p:nvPr/>
          </p:nvSpPr>
          <p:spPr>
            <a:xfrm>
              <a:off x="4606192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g3e04d4973f5_0_226"/>
            <p:cNvSpPr txBox="1"/>
            <p:nvPr/>
          </p:nvSpPr>
          <p:spPr>
            <a:xfrm>
              <a:off x="4640490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631" name="Google Shape;631;g3e04d4973f5_0_226"/>
            <p:cNvSpPr txBox="1"/>
            <p:nvPr/>
          </p:nvSpPr>
          <p:spPr>
            <a:xfrm>
              <a:off x="4640490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$19,500</a:t>
              </a:r>
              <a:endParaRPr/>
            </a:p>
          </p:txBody>
        </p:sp>
        <p:sp>
          <p:nvSpPr>
            <p:cNvPr id="632" name="Google Shape;632;g3e04d4973f5_0_226"/>
            <p:cNvSpPr/>
            <p:nvPr/>
          </p:nvSpPr>
          <p:spPr>
            <a:xfrm>
              <a:off x="5648869" y="4958480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g3e04d4973f5_0_226"/>
            <p:cNvSpPr/>
            <p:nvPr/>
          </p:nvSpPr>
          <p:spPr>
            <a:xfrm>
              <a:off x="5648869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g3e04d4973f5_0_226"/>
            <p:cNvSpPr txBox="1"/>
            <p:nvPr/>
          </p:nvSpPr>
          <p:spPr>
            <a:xfrm>
              <a:off x="5683167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635" name="Google Shape;635;g3e04d4973f5_0_226"/>
            <p:cNvSpPr txBox="1"/>
            <p:nvPr/>
          </p:nvSpPr>
          <p:spPr>
            <a:xfrm>
              <a:off x="5683167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$40,558</a:t>
              </a:r>
              <a:endParaRPr/>
            </a:p>
          </p:txBody>
        </p:sp>
        <p:sp>
          <p:nvSpPr>
            <p:cNvPr id="636" name="Google Shape;636;g3e04d4973f5_0_226"/>
            <p:cNvSpPr/>
            <p:nvPr/>
          </p:nvSpPr>
          <p:spPr>
            <a:xfrm>
              <a:off x="6691545" y="4958480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g3e04d4973f5_0_226"/>
            <p:cNvSpPr/>
            <p:nvPr/>
          </p:nvSpPr>
          <p:spPr>
            <a:xfrm>
              <a:off x="6691545" y="5379104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g3e04d4973f5_0_226"/>
            <p:cNvSpPr txBox="1"/>
            <p:nvPr/>
          </p:nvSpPr>
          <p:spPr>
            <a:xfrm>
              <a:off x="6725844" y="4976768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#2</a:t>
              </a:r>
              <a:endParaRPr/>
            </a:p>
          </p:txBody>
        </p:sp>
        <p:sp>
          <p:nvSpPr>
            <p:cNvPr id="639" name="Google Shape;639;g3e04d4973f5_0_226"/>
            <p:cNvSpPr txBox="1"/>
            <p:nvPr/>
          </p:nvSpPr>
          <p:spPr>
            <a:xfrm>
              <a:off x="6725844" y="5168793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$62,325</a:t>
              </a:r>
              <a:endParaRPr/>
            </a:p>
          </p:txBody>
        </p:sp>
        <p:sp>
          <p:nvSpPr>
            <p:cNvPr id="640" name="Google Shape;640;g3e04d4973f5_0_226"/>
            <p:cNvSpPr/>
            <p:nvPr/>
          </p:nvSpPr>
          <p:spPr>
            <a:xfrm>
              <a:off x="7734222" y="4958480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g3e04d4973f5_0_226"/>
            <p:cNvSpPr txBox="1"/>
            <p:nvPr/>
          </p:nvSpPr>
          <p:spPr>
            <a:xfrm>
              <a:off x="7747942" y="5031632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3.0</a:t>
              </a:r>
              <a:endParaRPr/>
            </a:p>
          </p:txBody>
        </p:sp>
        <p:sp>
          <p:nvSpPr>
            <p:cNvPr id="642" name="Google Shape;642;g3e04d4973f5_0_226"/>
            <p:cNvSpPr/>
            <p:nvPr/>
          </p:nvSpPr>
          <p:spPr>
            <a:xfrm>
              <a:off x="8200683" y="4958480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g3e04d4973f5_0_226"/>
            <p:cNvSpPr/>
            <p:nvPr/>
          </p:nvSpPr>
          <p:spPr>
            <a:xfrm>
              <a:off x="8303579" y="5045348"/>
              <a:ext cx="260700" cy="255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g3e04d4973f5_0_226"/>
            <p:cNvSpPr txBox="1"/>
            <p:nvPr/>
          </p:nvSpPr>
          <p:spPr>
            <a:xfrm>
              <a:off x="8214475" y="5063639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645" name="Google Shape;645;g3e04d4973f5_0_226"/>
            <p:cNvSpPr/>
            <p:nvPr/>
          </p:nvSpPr>
          <p:spPr>
            <a:xfrm>
              <a:off x="209114" y="5388249"/>
              <a:ext cx="12690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g3e04d4973f5_0_226"/>
            <p:cNvSpPr txBox="1"/>
            <p:nvPr/>
          </p:nvSpPr>
          <p:spPr>
            <a:xfrm>
              <a:off x="250272" y="5433969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Rel Threshold 25%</a:t>
              </a:r>
              <a:endParaRPr/>
            </a:p>
          </p:txBody>
        </p:sp>
        <p:sp>
          <p:nvSpPr>
            <p:cNvPr id="647" name="Google Shape;647;g3e04d4973f5_0_226"/>
            <p:cNvSpPr/>
            <p:nvPr/>
          </p:nvSpPr>
          <p:spPr>
            <a:xfrm>
              <a:off x="1478161" y="5388249"/>
              <a:ext cx="1042800" cy="429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g3e04d4973f5_0_226"/>
            <p:cNvSpPr/>
            <p:nvPr/>
          </p:nvSpPr>
          <p:spPr>
            <a:xfrm>
              <a:off x="1478161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g3e04d4973f5_0_226"/>
            <p:cNvSpPr txBox="1"/>
            <p:nvPr/>
          </p:nvSpPr>
          <p:spPr>
            <a:xfrm>
              <a:off x="1512460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#1</a:t>
              </a:r>
              <a:endParaRPr/>
            </a:p>
          </p:txBody>
        </p:sp>
        <p:sp>
          <p:nvSpPr>
            <p:cNvPr id="650" name="Google Shape;650;g3e04d4973f5_0_226"/>
            <p:cNvSpPr txBox="1"/>
            <p:nvPr/>
          </p:nvSpPr>
          <p:spPr>
            <a:xfrm>
              <a:off x="1512460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$7,352</a:t>
              </a:r>
              <a:endParaRPr/>
            </a:p>
          </p:txBody>
        </p:sp>
        <p:sp>
          <p:nvSpPr>
            <p:cNvPr id="651" name="Google Shape;651;g3e04d4973f5_0_226"/>
            <p:cNvSpPr/>
            <p:nvPr/>
          </p:nvSpPr>
          <p:spPr>
            <a:xfrm>
              <a:off x="2520838" y="538824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e04d4973f5_0_226"/>
            <p:cNvSpPr/>
            <p:nvPr/>
          </p:nvSpPr>
          <p:spPr>
            <a:xfrm>
              <a:off x="2520838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g3e04d4973f5_0_226"/>
            <p:cNvSpPr txBox="1"/>
            <p:nvPr/>
          </p:nvSpPr>
          <p:spPr>
            <a:xfrm>
              <a:off x="2555137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654" name="Google Shape;654;g3e04d4973f5_0_226"/>
            <p:cNvSpPr txBox="1"/>
            <p:nvPr/>
          </p:nvSpPr>
          <p:spPr>
            <a:xfrm>
              <a:off x="2555137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($11,696)</a:t>
              </a:r>
              <a:endParaRPr/>
            </a:p>
          </p:txBody>
        </p:sp>
        <p:sp>
          <p:nvSpPr>
            <p:cNvPr id="655" name="Google Shape;655;g3e04d4973f5_0_226"/>
            <p:cNvSpPr/>
            <p:nvPr/>
          </p:nvSpPr>
          <p:spPr>
            <a:xfrm>
              <a:off x="3563515" y="538824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g3e04d4973f5_0_226"/>
            <p:cNvSpPr/>
            <p:nvPr/>
          </p:nvSpPr>
          <p:spPr>
            <a:xfrm>
              <a:off x="3563515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g3e04d4973f5_0_226"/>
            <p:cNvSpPr txBox="1"/>
            <p:nvPr/>
          </p:nvSpPr>
          <p:spPr>
            <a:xfrm>
              <a:off x="3597813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58" name="Google Shape;658;g3e04d4973f5_0_226"/>
            <p:cNvSpPr txBox="1"/>
            <p:nvPr/>
          </p:nvSpPr>
          <p:spPr>
            <a:xfrm>
              <a:off x="3597813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$4,414</a:t>
              </a:r>
              <a:endParaRPr/>
            </a:p>
          </p:txBody>
        </p:sp>
        <p:sp>
          <p:nvSpPr>
            <p:cNvPr id="659" name="Google Shape;659;g3e04d4973f5_0_226"/>
            <p:cNvSpPr/>
            <p:nvPr/>
          </p:nvSpPr>
          <p:spPr>
            <a:xfrm>
              <a:off x="4606192" y="538824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g3e04d4973f5_0_226"/>
            <p:cNvSpPr/>
            <p:nvPr/>
          </p:nvSpPr>
          <p:spPr>
            <a:xfrm>
              <a:off x="4606192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g3e04d4973f5_0_226"/>
            <p:cNvSpPr txBox="1"/>
            <p:nvPr/>
          </p:nvSpPr>
          <p:spPr>
            <a:xfrm>
              <a:off x="4640490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662" name="Google Shape;662;g3e04d4973f5_0_226"/>
            <p:cNvSpPr txBox="1"/>
            <p:nvPr/>
          </p:nvSpPr>
          <p:spPr>
            <a:xfrm>
              <a:off x="4640490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$13,063</a:t>
              </a:r>
              <a:endParaRPr/>
            </a:p>
          </p:txBody>
        </p:sp>
        <p:sp>
          <p:nvSpPr>
            <p:cNvPr id="663" name="Google Shape;663;g3e04d4973f5_0_226"/>
            <p:cNvSpPr/>
            <p:nvPr/>
          </p:nvSpPr>
          <p:spPr>
            <a:xfrm>
              <a:off x="5648869" y="538824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e04d4973f5_0_226"/>
            <p:cNvSpPr/>
            <p:nvPr/>
          </p:nvSpPr>
          <p:spPr>
            <a:xfrm>
              <a:off x="5648869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g3e04d4973f5_0_226"/>
            <p:cNvSpPr txBox="1"/>
            <p:nvPr/>
          </p:nvSpPr>
          <p:spPr>
            <a:xfrm>
              <a:off x="5683167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66" name="Google Shape;666;g3e04d4973f5_0_226"/>
            <p:cNvSpPr txBox="1"/>
            <p:nvPr/>
          </p:nvSpPr>
          <p:spPr>
            <a:xfrm>
              <a:off x="5683167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$19,445</a:t>
              </a:r>
              <a:endParaRPr/>
            </a:p>
          </p:txBody>
        </p:sp>
        <p:sp>
          <p:nvSpPr>
            <p:cNvPr id="667" name="Google Shape;667;g3e04d4973f5_0_226"/>
            <p:cNvSpPr/>
            <p:nvPr/>
          </p:nvSpPr>
          <p:spPr>
            <a:xfrm>
              <a:off x="6691545" y="5388249"/>
              <a:ext cx="1042800" cy="4299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g3e04d4973f5_0_226"/>
            <p:cNvSpPr/>
            <p:nvPr/>
          </p:nvSpPr>
          <p:spPr>
            <a:xfrm>
              <a:off x="6691545" y="5808873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e04d4973f5_0_226"/>
            <p:cNvSpPr txBox="1"/>
            <p:nvPr/>
          </p:nvSpPr>
          <p:spPr>
            <a:xfrm>
              <a:off x="6725844" y="5406536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#4</a:t>
              </a:r>
              <a:endParaRPr/>
            </a:p>
          </p:txBody>
        </p:sp>
        <p:sp>
          <p:nvSpPr>
            <p:cNvPr id="670" name="Google Shape;670;g3e04d4973f5_0_226"/>
            <p:cNvSpPr txBox="1"/>
            <p:nvPr/>
          </p:nvSpPr>
          <p:spPr>
            <a:xfrm>
              <a:off x="6725844" y="5598561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$13,900</a:t>
              </a:r>
              <a:endParaRPr/>
            </a:p>
          </p:txBody>
        </p:sp>
        <p:sp>
          <p:nvSpPr>
            <p:cNvPr id="671" name="Google Shape;671;g3e04d4973f5_0_226"/>
            <p:cNvSpPr/>
            <p:nvPr/>
          </p:nvSpPr>
          <p:spPr>
            <a:xfrm>
              <a:off x="7734222" y="5388249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g3e04d4973f5_0_226"/>
            <p:cNvSpPr txBox="1"/>
            <p:nvPr/>
          </p:nvSpPr>
          <p:spPr>
            <a:xfrm>
              <a:off x="7747942" y="5461401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3.2</a:t>
              </a:r>
              <a:endParaRPr/>
            </a:p>
          </p:txBody>
        </p:sp>
        <p:sp>
          <p:nvSpPr>
            <p:cNvPr id="673" name="Google Shape;673;g3e04d4973f5_0_226"/>
            <p:cNvSpPr/>
            <p:nvPr/>
          </p:nvSpPr>
          <p:spPr>
            <a:xfrm>
              <a:off x="8200683" y="5388249"/>
              <a:ext cx="466500" cy="429900"/>
            </a:xfrm>
            <a:prstGeom prst="rect">
              <a:avLst/>
            </a:prstGeom>
            <a:solidFill>
              <a:srgbClr val="E8EF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g3e04d4973f5_0_226"/>
            <p:cNvSpPr/>
            <p:nvPr/>
          </p:nvSpPr>
          <p:spPr>
            <a:xfrm>
              <a:off x="8303579" y="5475116"/>
              <a:ext cx="260700" cy="255900"/>
            </a:xfrm>
            <a:prstGeom prst="rect">
              <a:avLst/>
            </a:prstGeom>
            <a:solidFill>
              <a:srgbClr val="1B6B3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g3e04d4973f5_0_226"/>
            <p:cNvSpPr txBox="1"/>
            <p:nvPr/>
          </p:nvSpPr>
          <p:spPr>
            <a:xfrm>
              <a:off x="8214475" y="5493407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#3</a:t>
              </a:r>
              <a:endParaRPr/>
            </a:p>
          </p:txBody>
        </p:sp>
        <p:sp>
          <p:nvSpPr>
            <p:cNvPr id="676" name="Google Shape;676;g3e04d4973f5_0_226"/>
            <p:cNvSpPr/>
            <p:nvPr/>
          </p:nvSpPr>
          <p:spPr>
            <a:xfrm>
              <a:off x="209114" y="5818017"/>
              <a:ext cx="12690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g3e04d4973f5_0_226"/>
            <p:cNvSpPr txBox="1"/>
            <p:nvPr/>
          </p:nvSpPr>
          <p:spPr>
            <a:xfrm>
              <a:off x="250272" y="5863737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Rel Threshold 50%</a:t>
              </a:r>
              <a:endParaRPr/>
            </a:p>
          </p:txBody>
        </p:sp>
        <p:sp>
          <p:nvSpPr>
            <p:cNvPr id="678" name="Google Shape;678;g3e04d4973f5_0_226"/>
            <p:cNvSpPr/>
            <p:nvPr/>
          </p:nvSpPr>
          <p:spPr>
            <a:xfrm>
              <a:off x="1478161" y="5818017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g3e04d4973f5_0_226"/>
            <p:cNvSpPr/>
            <p:nvPr/>
          </p:nvSpPr>
          <p:spPr>
            <a:xfrm>
              <a:off x="1478161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g3e04d4973f5_0_226"/>
            <p:cNvSpPr txBox="1"/>
            <p:nvPr/>
          </p:nvSpPr>
          <p:spPr>
            <a:xfrm>
              <a:off x="1512460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#5</a:t>
              </a:r>
              <a:endParaRPr/>
            </a:p>
          </p:txBody>
        </p:sp>
        <p:sp>
          <p:nvSpPr>
            <p:cNvPr id="681" name="Google Shape;681;g3e04d4973f5_0_226"/>
            <p:cNvSpPr txBox="1"/>
            <p:nvPr/>
          </p:nvSpPr>
          <p:spPr>
            <a:xfrm>
              <a:off x="1512460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$3,350</a:t>
              </a:r>
              <a:endParaRPr/>
            </a:p>
          </p:txBody>
        </p:sp>
        <p:sp>
          <p:nvSpPr>
            <p:cNvPr id="682" name="Google Shape;682;g3e04d4973f5_0_226"/>
            <p:cNvSpPr/>
            <p:nvPr/>
          </p:nvSpPr>
          <p:spPr>
            <a:xfrm>
              <a:off x="2520838" y="581801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g3e04d4973f5_0_226"/>
            <p:cNvSpPr/>
            <p:nvPr/>
          </p:nvSpPr>
          <p:spPr>
            <a:xfrm>
              <a:off x="2520838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g3e04d4973f5_0_226"/>
            <p:cNvSpPr txBox="1"/>
            <p:nvPr/>
          </p:nvSpPr>
          <p:spPr>
            <a:xfrm>
              <a:off x="2555137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685" name="Google Shape;685;g3e04d4973f5_0_226"/>
            <p:cNvSpPr txBox="1"/>
            <p:nvPr/>
          </p:nvSpPr>
          <p:spPr>
            <a:xfrm>
              <a:off x="2555137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($20,359)</a:t>
              </a:r>
              <a:endParaRPr/>
            </a:p>
          </p:txBody>
        </p:sp>
        <p:sp>
          <p:nvSpPr>
            <p:cNvPr id="686" name="Google Shape;686;g3e04d4973f5_0_226"/>
            <p:cNvSpPr/>
            <p:nvPr/>
          </p:nvSpPr>
          <p:spPr>
            <a:xfrm>
              <a:off x="3563515" y="5818017"/>
              <a:ext cx="1042800" cy="429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g3e04d4973f5_0_226"/>
            <p:cNvSpPr/>
            <p:nvPr/>
          </p:nvSpPr>
          <p:spPr>
            <a:xfrm>
              <a:off x="3563515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g3e04d4973f5_0_226"/>
            <p:cNvSpPr txBox="1"/>
            <p:nvPr/>
          </p:nvSpPr>
          <p:spPr>
            <a:xfrm>
              <a:off x="3597813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689" name="Google Shape;689;g3e04d4973f5_0_226"/>
            <p:cNvSpPr txBox="1"/>
            <p:nvPr/>
          </p:nvSpPr>
          <p:spPr>
            <a:xfrm>
              <a:off x="3597813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$2,680</a:t>
              </a:r>
              <a:endParaRPr/>
            </a:p>
          </p:txBody>
        </p:sp>
        <p:sp>
          <p:nvSpPr>
            <p:cNvPr id="690" name="Google Shape;690;g3e04d4973f5_0_226"/>
            <p:cNvSpPr/>
            <p:nvPr/>
          </p:nvSpPr>
          <p:spPr>
            <a:xfrm>
              <a:off x="4606192" y="5818017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g3e04d4973f5_0_226"/>
            <p:cNvSpPr/>
            <p:nvPr/>
          </p:nvSpPr>
          <p:spPr>
            <a:xfrm>
              <a:off x="4606192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g3e04d4973f5_0_226"/>
            <p:cNvSpPr txBox="1"/>
            <p:nvPr/>
          </p:nvSpPr>
          <p:spPr>
            <a:xfrm>
              <a:off x="4640490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693" name="Google Shape;693;g3e04d4973f5_0_226"/>
            <p:cNvSpPr txBox="1"/>
            <p:nvPr/>
          </p:nvSpPr>
          <p:spPr>
            <a:xfrm>
              <a:off x="4640490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$6,642</a:t>
              </a:r>
              <a:endParaRPr/>
            </a:p>
          </p:txBody>
        </p:sp>
        <p:sp>
          <p:nvSpPr>
            <p:cNvPr id="694" name="Google Shape;694;g3e04d4973f5_0_226"/>
            <p:cNvSpPr/>
            <p:nvPr/>
          </p:nvSpPr>
          <p:spPr>
            <a:xfrm>
              <a:off x="5648869" y="5818017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g3e04d4973f5_0_226"/>
            <p:cNvSpPr/>
            <p:nvPr/>
          </p:nvSpPr>
          <p:spPr>
            <a:xfrm>
              <a:off x="5648869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g3e04d4973f5_0_226"/>
            <p:cNvSpPr txBox="1"/>
            <p:nvPr/>
          </p:nvSpPr>
          <p:spPr>
            <a:xfrm>
              <a:off x="5683167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697" name="Google Shape;697;g3e04d4973f5_0_226"/>
            <p:cNvSpPr txBox="1"/>
            <p:nvPr/>
          </p:nvSpPr>
          <p:spPr>
            <a:xfrm>
              <a:off x="5683167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$10,659</a:t>
              </a:r>
              <a:endParaRPr/>
            </a:p>
          </p:txBody>
        </p:sp>
        <p:sp>
          <p:nvSpPr>
            <p:cNvPr id="698" name="Google Shape;698;g3e04d4973f5_0_226"/>
            <p:cNvSpPr/>
            <p:nvPr/>
          </p:nvSpPr>
          <p:spPr>
            <a:xfrm>
              <a:off x="6691545" y="5818017"/>
              <a:ext cx="1042800" cy="4299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g3e04d4973f5_0_226"/>
            <p:cNvSpPr/>
            <p:nvPr/>
          </p:nvSpPr>
          <p:spPr>
            <a:xfrm>
              <a:off x="6691545" y="6238641"/>
              <a:ext cx="104280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g3e04d4973f5_0_226"/>
            <p:cNvSpPr txBox="1"/>
            <p:nvPr/>
          </p:nvSpPr>
          <p:spPr>
            <a:xfrm>
              <a:off x="6725844" y="5836304"/>
              <a:ext cx="9741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#6</a:t>
              </a:r>
              <a:endParaRPr/>
            </a:p>
          </p:txBody>
        </p:sp>
        <p:sp>
          <p:nvSpPr>
            <p:cNvPr id="701" name="Google Shape;701;g3e04d4973f5_0_226"/>
            <p:cNvSpPr txBox="1"/>
            <p:nvPr/>
          </p:nvSpPr>
          <p:spPr>
            <a:xfrm>
              <a:off x="6725844" y="6028329"/>
              <a:ext cx="97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u="none" strike="noStrike" cap="none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($17,915)</a:t>
              </a:r>
              <a:endParaRPr/>
            </a:p>
          </p:txBody>
        </p:sp>
        <p:sp>
          <p:nvSpPr>
            <p:cNvPr id="702" name="Google Shape;702;g3e04d4973f5_0_226"/>
            <p:cNvSpPr/>
            <p:nvPr/>
          </p:nvSpPr>
          <p:spPr>
            <a:xfrm>
              <a:off x="7734222" y="5818017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g3e04d4973f5_0_226"/>
            <p:cNvSpPr txBox="1"/>
            <p:nvPr/>
          </p:nvSpPr>
          <p:spPr>
            <a:xfrm>
              <a:off x="7747942" y="5891169"/>
              <a:ext cx="439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6.2</a:t>
              </a:r>
              <a:endParaRPr/>
            </a:p>
          </p:txBody>
        </p:sp>
        <p:sp>
          <p:nvSpPr>
            <p:cNvPr id="704" name="Google Shape;704;g3e04d4973f5_0_226"/>
            <p:cNvSpPr/>
            <p:nvPr/>
          </p:nvSpPr>
          <p:spPr>
            <a:xfrm>
              <a:off x="8200683" y="5818017"/>
              <a:ext cx="466500" cy="429900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g3e04d4973f5_0_226"/>
            <p:cNvSpPr/>
            <p:nvPr/>
          </p:nvSpPr>
          <p:spPr>
            <a:xfrm>
              <a:off x="8303579" y="5904884"/>
              <a:ext cx="260700" cy="25590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g3e04d4973f5_0_226"/>
            <p:cNvSpPr txBox="1"/>
            <p:nvPr/>
          </p:nvSpPr>
          <p:spPr>
            <a:xfrm>
              <a:off x="8214475" y="5923175"/>
              <a:ext cx="439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#7</a:t>
              </a:r>
              <a:endParaRPr/>
            </a:p>
          </p:txBody>
        </p:sp>
        <p:sp>
          <p:nvSpPr>
            <p:cNvPr id="707" name="Google Shape;707;g3e04d4973f5_0_226"/>
            <p:cNvSpPr/>
            <p:nvPr/>
          </p:nvSpPr>
          <p:spPr>
            <a:xfrm>
              <a:off x="209114" y="6247784"/>
              <a:ext cx="12690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g3e04d4973f5_0_226"/>
            <p:cNvSpPr txBox="1"/>
            <p:nvPr/>
          </p:nvSpPr>
          <p:spPr>
            <a:xfrm>
              <a:off x="250272" y="6311793"/>
              <a:ext cx="12006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Best Strategy</a:t>
              </a:r>
              <a:endParaRPr/>
            </a:p>
          </p:txBody>
        </p:sp>
        <p:sp>
          <p:nvSpPr>
            <p:cNvPr id="709" name="Google Shape;709;g3e04d4973f5_0_226"/>
            <p:cNvSpPr/>
            <p:nvPr/>
          </p:nvSpPr>
          <p:spPr>
            <a:xfrm>
              <a:off x="1478161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g3e04d4973f5_0_226"/>
            <p:cNvSpPr txBox="1"/>
            <p:nvPr/>
          </p:nvSpPr>
          <p:spPr>
            <a:xfrm>
              <a:off x="1505600" y="6275217"/>
              <a:ext cx="987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Rel Threshold 25%</a:t>
              </a:r>
              <a:endParaRPr sz="1600"/>
            </a:p>
          </p:txBody>
        </p:sp>
        <p:sp>
          <p:nvSpPr>
            <p:cNvPr id="711" name="Google Shape;711;g3e04d4973f5_0_226"/>
            <p:cNvSpPr/>
            <p:nvPr/>
          </p:nvSpPr>
          <p:spPr>
            <a:xfrm>
              <a:off x="2520838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g3e04d4973f5_0_226"/>
            <p:cNvSpPr txBox="1"/>
            <p:nvPr/>
          </p:nvSpPr>
          <p:spPr>
            <a:xfrm>
              <a:off x="2548277" y="6275217"/>
              <a:ext cx="9879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Quarterly Rebal</a:t>
              </a:r>
              <a:endParaRPr sz="1600"/>
            </a:p>
          </p:txBody>
        </p:sp>
        <p:sp>
          <p:nvSpPr>
            <p:cNvPr id="713" name="Google Shape;713;g3e04d4973f5_0_226"/>
            <p:cNvSpPr/>
            <p:nvPr/>
          </p:nvSpPr>
          <p:spPr>
            <a:xfrm>
              <a:off x="3563515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g3e04d4973f5_0_226"/>
            <p:cNvSpPr txBox="1"/>
            <p:nvPr/>
          </p:nvSpPr>
          <p:spPr>
            <a:xfrm>
              <a:off x="3590954" y="6275217"/>
              <a:ext cx="9879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Quarterly Rebal</a:t>
              </a:r>
              <a:endParaRPr sz="1600"/>
            </a:p>
          </p:txBody>
        </p:sp>
        <p:sp>
          <p:nvSpPr>
            <p:cNvPr id="715" name="Google Shape;715;g3e04d4973f5_0_226"/>
            <p:cNvSpPr/>
            <p:nvPr/>
          </p:nvSpPr>
          <p:spPr>
            <a:xfrm>
              <a:off x="4606192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g3e04d4973f5_0_226"/>
            <p:cNvSpPr txBox="1"/>
            <p:nvPr/>
          </p:nvSpPr>
          <p:spPr>
            <a:xfrm>
              <a:off x="4633631" y="6275217"/>
              <a:ext cx="9879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Monthly Rebal</a:t>
              </a:r>
              <a:endParaRPr sz="1600"/>
            </a:p>
          </p:txBody>
        </p:sp>
        <p:sp>
          <p:nvSpPr>
            <p:cNvPr id="717" name="Google Shape;717;g3e04d4973f5_0_226"/>
            <p:cNvSpPr/>
            <p:nvPr/>
          </p:nvSpPr>
          <p:spPr>
            <a:xfrm>
              <a:off x="5648869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g3e04d4973f5_0_226"/>
            <p:cNvSpPr txBox="1"/>
            <p:nvPr/>
          </p:nvSpPr>
          <p:spPr>
            <a:xfrm>
              <a:off x="5676307" y="6275217"/>
              <a:ext cx="9879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Yearly Rebal</a:t>
              </a:r>
              <a:endParaRPr sz="1600"/>
            </a:p>
          </p:txBody>
        </p:sp>
        <p:sp>
          <p:nvSpPr>
            <p:cNvPr id="719" name="Google Shape;719;g3e04d4973f5_0_226"/>
            <p:cNvSpPr/>
            <p:nvPr/>
          </p:nvSpPr>
          <p:spPr>
            <a:xfrm>
              <a:off x="6691545" y="6247784"/>
              <a:ext cx="10428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g3e04d4973f5_0_226"/>
            <p:cNvSpPr txBox="1"/>
            <p:nvPr/>
          </p:nvSpPr>
          <p:spPr>
            <a:xfrm>
              <a:off x="6718984" y="6275217"/>
              <a:ext cx="9879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Monthly Rebal</a:t>
              </a:r>
              <a:endParaRPr sz="1600"/>
            </a:p>
          </p:txBody>
        </p:sp>
        <p:sp>
          <p:nvSpPr>
            <p:cNvPr id="721" name="Google Shape;721;g3e04d4973f5_0_226"/>
            <p:cNvSpPr/>
            <p:nvPr/>
          </p:nvSpPr>
          <p:spPr>
            <a:xfrm>
              <a:off x="7734222" y="6247784"/>
              <a:ext cx="933000" cy="3657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2" name="Google Shape;722;g3e04d4973f5_0_226"/>
          <p:cNvSpPr txBox="1"/>
          <p:nvPr/>
        </p:nvSpPr>
        <p:spPr>
          <a:xfrm>
            <a:off x="334032" y="6595153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1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Rank 1 = highest avg net value-add across all portfolios  |  TLH threshold = 10%  |  $1M initial capital  |  35% ST / 20% LT tax rates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723" name="Google Shape;723;g3e04d4973f5_0_226"/>
          <p:cNvSpPr/>
          <p:nvPr/>
        </p:nvSpPr>
        <p:spPr>
          <a:xfrm>
            <a:off x="110000" y="1190122"/>
            <a:ext cx="2864100" cy="989400"/>
          </a:xfrm>
          <a:prstGeom prst="rect">
            <a:avLst/>
          </a:prstGeom>
          <a:solidFill>
            <a:srgbClr val="F0F4F9"/>
          </a:solidFill>
          <a:ln w="10475" cap="flat" cmpd="sng">
            <a:solidFill>
              <a:srgbClr val="C5D3E8"/>
            </a:solidFill>
            <a:prstDash val="solid"/>
            <a:round/>
            <a:headEnd type="none" w="sm" len="sm"/>
            <a:tailEnd type="none" w="sm" len="sm"/>
          </a:ln>
          <a:effectLst>
            <a:outerShdw blurRad="43950" dist="2527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00475" tIns="50225" rIns="100475" bIns="50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7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e04d4973f5_0_226"/>
          <p:cNvSpPr txBox="1"/>
          <p:nvPr/>
        </p:nvSpPr>
        <p:spPr>
          <a:xfrm>
            <a:off x="172963" y="1195072"/>
            <a:ext cx="2751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 b="1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Bear Market</a:t>
            </a:r>
            <a:endParaRPr sz="1838" dirty="0">
              <a:solidFill>
                <a:srgbClr val="1A1A1A"/>
              </a:solidFill>
            </a:endParaRPr>
          </a:p>
        </p:txBody>
      </p:sp>
      <p:sp>
        <p:nvSpPr>
          <p:cNvPr id="725" name="Google Shape;725;g3e04d4973f5_0_226"/>
          <p:cNvSpPr txBox="1"/>
          <p:nvPr/>
        </p:nvSpPr>
        <p:spPr>
          <a:xfrm>
            <a:off x="172963" y="1469572"/>
            <a:ext cx="27513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9" b="0" i="1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Relative &amp; tight thresholds win</a:t>
            </a:r>
            <a:r>
              <a:rPr lang="en-US" sz="1069" i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69" b="0" i="1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volatile markets create frequent harvest opportunities</a:t>
            </a:r>
            <a:endParaRPr sz="1838" dirty="0"/>
          </a:p>
        </p:txBody>
      </p:sp>
      <p:sp>
        <p:nvSpPr>
          <p:cNvPr id="726" name="Google Shape;726;g3e04d4973f5_0_226"/>
          <p:cNvSpPr/>
          <p:nvPr/>
        </p:nvSpPr>
        <p:spPr>
          <a:xfrm>
            <a:off x="3139953" y="1190122"/>
            <a:ext cx="2864100" cy="989400"/>
          </a:xfrm>
          <a:prstGeom prst="rect">
            <a:avLst/>
          </a:prstGeom>
          <a:solidFill>
            <a:srgbClr val="F0F4F9"/>
          </a:solidFill>
          <a:ln w="10475" cap="flat" cmpd="sng">
            <a:solidFill>
              <a:srgbClr val="C5D3E8"/>
            </a:solidFill>
            <a:prstDash val="solid"/>
            <a:round/>
            <a:headEnd type="none" w="sm" len="sm"/>
            <a:tailEnd type="none" w="sm" len="sm"/>
          </a:ln>
          <a:effectLst>
            <a:outerShdw blurRad="43950" dist="2527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00475" tIns="50225" rIns="100475" bIns="50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7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e04d4973f5_0_226"/>
          <p:cNvSpPr txBox="1"/>
          <p:nvPr/>
        </p:nvSpPr>
        <p:spPr>
          <a:xfrm>
            <a:off x="3189783" y="1195072"/>
            <a:ext cx="2751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 b="1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Baseline Market</a:t>
            </a:r>
            <a:endParaRPr sz="1838" dirty="0">
              <a:solidFill>
                <a:srgbClr val="1A1A1A"/>
              </a:solidFill>
            </a:endParaRPr>
          </a:p>
        </p:txBody>
      </p:sp>
      <p:sp>
        <p:nvSpPr>
          <p:cNvPr id="728" name="Google Shape;728;g3e04d4973f5_0_226"/>
          <p:cNvSpPr txBox="1"/>
          <p:nvPr/>
        </p:nvSpPr>
        <p:spPr>
          <a:xfrm>
            <a:off x="3189783" y="1457858"/>
            <a:ext cx="2751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9" b="0" i="1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Calendar (quarterly) rebalancing leads here; harvesting still cuts tax, but replacement-ETF tracking decides the net and erodes the benefit after liquidation</a:t>
            </a:r>
            <a:endParaRPr sz="1838" dirty="0"/>
          </a:p>
        </p:txBody>
      </p:sp>
      <p:sp>
        <p:nvSpPr>
          <p:cNvPr id="729" name="Google Shape;729;g3e04d4973f5_0_226"/>
          <p:cNvSpPr/>
          <p:nvPr/>
        </p:nvSpPr>
        <p:spPr>
          <a:xfrm>
            <a:off x="6169907" y="1190122"/>
            <a:ext cx="2864100" cy="989400"/>
          </a:xfrm>
          <a:prstGeom prst="rect">
            <a:avLst/>
          </a:prstGeom>
          <a:solidFill>
            <a:srgbClr val="F0F4F9"/>
          </a:solidFill>
          <a:ln w="10475" cap="flat" cmpd="sng">
            <a:solidFill>
              <a:srgbClr val="C5D3E8"/>
            </a:solidFill>
            <a:prstDash val="solid"/>
            <a:round/>
            <a:headEnd type="none" w="sm" len="sm"/>
            <a:tailEnd type="none" w="sm" len="sm"/>
          </a:ln>
          <a:effectLst>
            <a:outerShdw blurRad="43950" dist="2527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00475" tIns="50225" rIns="100475" bIns="50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7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e04d4973f5_0_226"/>
          <p:cNvSpPr txBox="1"/>
          <p:nvPr/>
        </p:nvSpPr>
        <p:spPr>
          <a:xfrm>
            <a:off x="6219737" y="1164336"/>
            <a:ext cx="2751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 b="1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Long-Horizon</a:t>
            </a:r>
            <a:endParaRPr sz="1838" dirty="0">
              <a:solidFill>
                <a:srgbClr val="1A1A1A"/>
              </a:solidFill>
            </a:endParaRPr>
          </a:p>
        </p:txBody>
      </p:sp>
      <p:sp>
        <p:nvSpPr>
          <p:cNvPr id="731" name="Google Shape;731;g3e04d4973f5_0_226"/>
          <p:cNvSpPr txBox="1"/>
          <p:nvPr/>
        </p:nvSpPr>
        <p:spPr>
          <a:xfrm>
            <a:off x="6219737" y="1365564"/>
            <a:ext cx="2751300" cy="870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475" tIns="50225" rIns="100475" bIns="50225" anchor="t" anchorCtr="0">
            <a:spAutoFit/>
          </a:bodyPr>
          <a:lstStyle/>
          <a:p>
            <a:pPr marL="0" marR="0" lvl="0" indent="0" algn="l" rtl="0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Low-frequency rebalancing wins: yearly and wide bands compound with low friction. Over long holds replacement-ETF tracking (not gain realization) drives the net; monthly and quarterly add churn and cost</a:t>
            </a:r>
            <a:endParaRPr sz="1050" dirty="0"/>
          </a:p>
        </p:txBody>
      </p:sp>
      <p:sp>
        <p:nvSpPr>
          <p:cNvPr id="732" name="Google Shape;732;g3e04d4973f5_0_226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3e04d4973f5_0_226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e04d4973f5_0_226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Strategy Comparative Analysis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e04d4973f5_0_226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How strategies stack up across bear, bull, and long-horizon conditions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0" name="Google Shape;740;g3e04d4973f5_0_530"/>
          <p:cNvGraphicFramePr/>
          <p:nvPr/>
        </p:nvGraphicFramePr>
        <p:xfrm>
          <a:off x="145250" y="1406549"/>
          <a:ext cx="8853475" cy="2496450"/>
        </p:xfrm>
        <a:graphic>
          <a:graphicData uri="http://schemas.openxmlformats.org/drawingml/2006/table">
            <a:tbl>
              <a:tblPr firstRow="1" bandRow="1">
                <a:noFill/>
                <a:tableStyleId>{372ADC28-3F58-4271-98F8-52980C74E140}</a:tableStyleId>
              </a:tblPr>
              <a:tblGrid>
                <a:gridCol w="214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</a:rPr>
                        <a:t>Market Regime</a:t>
                      </a:r>
                      <a:endParaRPr sz="13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3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Pre-Liq Net Value-Add</a:t>
                      </a:r>
                      <a:endParaRPr sz="13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Post-Liq Net Value-Add</a:t>
                      </a:r>
                      <a:endParaRPr sz="1300"/>
                    </a:p>
                  </a:txBody>
                  <a:tcPr marL="101600" marR="101600" marT="640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 (2007–2008)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Relative Threshold 25% 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4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200">
                          <a:solidFill>
                            <a:srgbClr val="146B3A"/>
                          </a:solidFill>
                        </a:rPr>
                        <a:t>$7,352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4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+$4,125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(2010–2019)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Quarterly</a:t>
                      </a: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Rebalance 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4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+$4,600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46B3A"/>
                          </a:solidFill>
                        </a:rPr>
                        <a:t>-$1,537</a:t>
                      </a:r>
                      <a:endParaRPr sz="1200">
                        <a:solidFill>
                          <a:srgbClr val="146B3A"/>
                        </a:solidFill>
                      </a:endParaRPr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Bull (2023–2024)</a:t>
                      </a: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B3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Quarterly Rebalance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4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+$4,674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46B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+$2,372</a:t>
                      </a:r>
                      <a:endParaRPr sz="1200"/>
                    </a:p>
                  </a:txBody>
                  <a:tcPr marL="101600" marR="101600" marT="63500" marB="635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1" name="Google Shape;741;g3e04d4973f5_0_530"/>
          <p:cNvSpPr/>
          <p:nvPr/>
        </p:nvSpPr>
        <p:spPr>
          <a:xfrm>
            <a:off x="128850" y="4431025"/>
            <a:ext cx="8886300" cy="2112000"/>
          </a:xfrm>
          <a:prstGeom prst="rect">
            <a:avLst/>
          </a:prstGeom>
          <a:solidFill>
            <a:srgbClr val="EEF4FF"/>
          </a:solidFill>
          <a:ln w="9525" cap="flat" cmpd="sng">
            <a:solidFill>
              <a:srgbClr val="D8E4F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g3e04d4973f5_0_530"/>
          <p:cNvSpPr/>
          <p:nvPr/>
        </p:nvSpPr>
        <p:spPr>
          <a:xfrm>
            <a:off x="128016" y="4420664"/>
            <a:ext cx="44700" cy="2130600"/>
          </a:xfrm>
          <a:prstGeom prst="rect">
            <a:avLst/>
          </a:prstGeom>
          <a:solidFill>
            <a:srgbClr val="1F356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e04d4973f5_0_530"/>
          <p:cNvSpPr txBox="1"/>
          <p:nvPr/>
        </p:nvSpPr>
        <p:spPr>
          <a:xfrm>
            <a:off x="112200" y="4414850"/>
            <a:ext cx="8890975" cy="205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TLH Insights From All </a:t>
            </a:r>
            <a:r>
              <a:rPr lang="en-US" sz="16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Backtest</a:t>
            </a: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Combinations:  </a:t>
            </a:r>
            <a:endParaRPr sz="1600" b="1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675" algn="l" rtl="0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TLH benefits heavily depend on frequency, portfolio holdings, time horizon, and market regime 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675" algn="l" rtl="0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frequency generally improves TLH quality (less execution cost, wash sale risk, and reinvestment drag)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675" algn="l" rtl="0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Net value-add is decided by replacement-ETF tracking: harvesting reliably cuts taxes, but a poorly tracking wash-sale substitute can erase or reverse the benefit 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675" algn="l" rtl="0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Diversified portfolios with closely tracking replacements gain most; style mismatches (a growth sleeve swapped into a broad fund) drove the largest losses over long holds 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0675" algn="l" rtl="0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Bull markets generally narrow the advantage 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e04d4973f5_0_530"/>
          <p:cNvSpPr txBox="1"/>
          <p:nvPr/>
        </p:nvSpPr>
        <p:spPr>
          <a:xfrm>
            <a:off x="112200" y="3851168"/>
            <a:ext cx="9031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</a:t>
            </a:r>
            <a:r>
              <a:rPr lang="en-US" sz="11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Liq</a:t>
            </a:r>
            <a:r>
              <a:rPr lang="en-US" sz="11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Net Value-Add ($): </a:t>
            </a: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TLH NAV − No-TLH NAV while the portfolio remains invested; reflects tax saved plus how the replacement ETFs tracked while invested (usually tracking-dominated) </a:t>
            </a:r>
            <a:endParaRPr sz="11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Post-</a:t>
            </a:r>
            <a:r>
              <a:rPr lang="en-US" sz="11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Liq</a:t>
            </a:r>
            <a:r>
              <a:rPr lang="en-US" sz="11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Net Value-Add ($): </a:t>
            </a: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TLH </a:t>
            </a:r>
            <a:r>
              <a:rPr lang="en-US" sz="11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Liq</a:t>
            </a: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NAV − No-TLH </a:t>
            </a:r>
            <a:r>
              <a:rPr lang="en-US" sz="11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Liq</a:t>
            </a:r>
            <a:r>
              <a:rPr lang="en-US" sz="11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NAV; reflects the remaining after-tax benefit if the entire portfolio were liquidated </a:t>
            </a:r>
            <a:endParaRPr sz="11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e04d4973f5_0_530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g3e04d4973f5_0_530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e04d4973f5_0_530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TLH vs No-TLH Comparison 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e04d4973f5_0_530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Measuring the benefit of TLH across market regimes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e04d4973f5_0_530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04d4973f5_0_530"/>
          <p:cNvSpPr txBox="1"/>
          <p:nvPr/>
        </p:nvSpPr>
        <p:spPr>
          <a:xfrm>
            <a:off x="128838" y="1067625"/>
            <a:ext cx="8769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Net value-add for the best-performing rebalancing strategy in each market regime  |  $1M initial capital</a:t>
            </a:r>
            <a:endParaRPr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de9666e3e4_2_8"/>
          <p:cNvSpPr/>
          <p:nvPr/>
        </p:nvSpPr>
        <p:spPr>
          <a:xfrm>
            <a:off x="182875" y="1211202"/>
            <a:ext cx="8732400" cy="5384550"/>
          </a:xfrm>
          <a:prstGeom prst="rect">
            <a:avLst/>
          </a:prstGeom>
          <a:solidFill>
            <a:srgbClr val="EBF2FA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de9666e3e4_2_8"/>
          <p:cNvSpPr/>
          <p:nvPr/>
        </p:nvSpPr>
        <p:spPr>
          <a:xfrm>
            <a:off x="182875" y="1221397"/>
            <a:ext cx="8732400" cy="72600"/>
          </a:xfrm>
          <a:prstGeom prst="rect">
            <a:avLst/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de9666e3e4_2_8"/>
          <p:cNvSpPr/>
          <p:nvPr/>
        </p:nvSpPr>
        <p:spPr>
          <a:xfrm>
            <a:off x="619118" y="1362004"/>
            <a:ext cx="80778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1F3564"/>
                </a:solidFill>
                <a:latin typeface="Calibri"/>
                <a:ea typeface="Calibri"/>
                <a:cs typeface="Calibri"/>
                <a:sym typeface="Calibri"/>
              </a:rPr>
              <a:t>Project Strengths</a:t>
            </a:r>
            <a:endParaRPr sz="2000" b="1" dirty="0">
              <a:solidFill>
                <a:srgbClr val="1F35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g3de9666e3e4_2_8"/>
          <p:cNvCxnSpPr/>
          <p:nvPr/>
        </p:nvCxnSpPr>
        <p:spPr>
          <a:xfrm>
            <a:off x="509963" y="1730289"/>
            <a:ext cx="80778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0" name="Google Shape;760;g3de9666e3e4_2_8"/>
          <p:cNvSpPr/>
          <p:nvPr/>
        </p:nvSpPr>
        <p:spPr>
          <a:xfrm>
            <a:off x="619118" y="1835060"/>
            <a:ext cx="8077800" cy="23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Empirical Validation of TLH Value: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Quantified the net value-add of harvesting across bear, baseline, and bull regimes, decomposing it into tax saved versus replacement-ETF tracking.</a:t>
            </a:r>
            <a:endParaRPr sz="16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Regime-Specific Strategy Guidance: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20+ years of </a:t>
            </a:r>
            <a:r>
              <a:rPr lang="en-US" sz="16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backtests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pinpoint the right strategy for each market, from relative thresholds in volatile regimes to calendar rebalancing in sustained bulls.</a:t>
            </a:r>
            <a:endParaRPr sz="16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End-to-End Simulation: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Models the full trade lifecycle including dividends (optional), lot-level TLH, proxy swaps, execution costs, liquidation for realistic results. </a:t>
            </a:r>
            <a:endParaRPr sz="16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de9666e3e4_2_8"/>
          <p:cNvSpPr/>
          <p:nvPr/>
        </p:nvSpPr>
        <p:spPr>
          <a:xfrm>
            <a:off x="619118" y="4816272"/>
            <a:ext cx="80778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Constraint: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current framework is inherently backward-looking; it analyzes past performance but cannot predict current transitions between bull and bear markets.</a:t>
            </a:r>
            <a:endParaRPr sz="16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Solution (Future Work):</a:t>
            </a:r>
            <a:r>
              <a:rPr lang="en-US" sz="16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Develop and integrate forward-looking predictive signals to drive dynamic, optimal portfolio balancing ahead of market shifts.</a:t>
            </a:r>
            <a:endParaRPr sz="16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de9666e3e4_2_8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de9666e3e4_2_8"/>
          <p:cNvSpPr/>
          <p:nvPr/>
        </p:nvSpPr>
        <p:spPr>
          <a:xfrm>
            <a:off x="0" y="6669024"/>
            <a:ext cx="91440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Calibri"/>
              <a:buNone/>
            </a:pP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de9666e3e4_2_8"/>
          <p:cNvSpPr/>
          <p:nvPr/>
        </p:nvSpPr>
        <p:spPr>
          <a:xfrm>
            <a:off x="619118" y="4346462"/>
            <a:ext cx="80778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1F3564"/>
                </a:solidFill>
                <a:latin typeface="Calibri"/>
                <a:ea typeface="Calibri"/>
                <a:cs typeface="Calibri"/>
                <a:sym typeface="Calibri"/>
              </a:rPr>
              <a:t>Limitations &amp; Next Steps</a:t>
            </a:r>
            <a:endParaRPr sz="2000" b="1" dirty="0">
              <a:solidFill>
                <a:srgbClr val="1F35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g3de9666e3e4_2_8"/>
          <p:cNvCxnSpPr/>
          <p:nvPr/>
        </p:nvCxnSpPr>
        <p:spPr>
          <a:xfrm>
            <a:off x="509963" y="4718506"/>
            <a:ext cx="8077800" cy="0"/>
          </a:xfrm>
          <a:prstGeom prst="straightConnector1">
            <a:avLst/>
          </a:prstGeom>
          <a:noFill/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6" name="Google Shape;766;g3de9666e3e4_2_8"/>
          <p:cNvSpPr/>
          <p:nvPr/>
        </p:nvSpPr>
        <p:spPr>
          <a:xfrm>
            <a:off x="0" y="0"/>
            <a:ext cx="9144000" cy="10365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g3de9666e3e4_2_8"/>
          <p:cNvSpPr/>
          <p:nvPr/>
        </p:nvSpPr>
        <p:spPr>
          <a:xfrm>
            <a:off x="320040" y="73152"/>
            <a:ext cx="4572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700"/>
              <a:buFont typeface="Calibri"/>
              <a:buNone/>
            </a:pPr>
            <a:r>
              <a:rPr lang="en-US" sz="1600" b="1" i="0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VISE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de9666e3e4_2_8"/>
          <p:cNvSpPr/>
          <p:nvPr/>
        </p:nvSpPr>
        <p:spPr>
          <a:xfrm>
            <a:off x="320040" y="316992"/>
            <a:ext cx="73152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Takeaways &amp; Future Directions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de9666e3e4_2_8"/>
          <p:cNvSpPr/>
          <p:nvPr/>
        </p:nvSpPr>
        <p:spPr>
          <a:xfrm>
            <a:off x="320040" y="719328"/>
            <a:ext cx="73152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 i="1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From backward-looking backtests to forward-looking signals</a:t>
            </a:r>
            <a:endParaRPr sz="1550" i="1">
              <a:solidFill>
                <a:srgbClr val="A8C4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1681</Words>
  <Application>Microsoft Macintosh PowerPoint</Application>
  <PresentationFormat>On-screen Show (4:3)</PresentationFormat>
  <Paragraphs>386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Arimilli, Nathan</cp:lastModifiedBy>
  <cp:revision>2</cp:revision>
  <dcterms:created xsi:type="dcterms:W3CDTF">2013-01-27T09:14:16Z</dcterms:created>
  <dcterms:modified xsi:type="dcterms:W3CDTF">2026-06-19T19:36:53Z</dcterms:modified>
</cp:coreProperties>
</file>